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59" r:id="rId4"/>
    <p:sldId id="258" r:id="rId5"/>
    <p:sldId id="260" r:id="rId6"/>
    <p:sldId id="266" r:id="rId7"/>
    <p:sldId id="264" r:id="rId8"/>
    <p:sldId id="268" r:id="rId9"/>
    <p:sldId id="273" r:id="rId10"/>
    <p:sldId id="269" r:id="rId11"/>
    <p:sldId id="267" r:id="rId12"/>
    <p:sldId id="270" r:id="rId13"/>
    <p:sldId id="265" r:id="rId14"/>
    <p:sldId id="261" r:id="rId15"/>
    <p:sldId id="262" r:id="rId16"/>
    <p:sldId id="263" r:id="rId17"/>
    <p:sldId id="272" r:id="rId18"/>
    <p:sldId id="271" r:id="rId19"/>
  </p:sldIdLst>
  <p:sldSz cx="9144000" cy="6858000" type="screen4x3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1738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15817-F00F-4DBE-B0CC-02D48623ECDA}" type="datetimeFigureOut">
              <a:rPr lang="hu-HU" smtClean="0"/>
              <a:pPr/>
              <a:t>2026. 09. 23.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508D25-A229-4A85-B4B4-7F25A73A4071}" type="slidenum">
              <a:rPr lang="hu-HU" smtClean="0"/>
              <a:pPr/>
              <a:t>‹#›</a:t>
            </a:fld>
            <a:endParaRPr lang="hu-H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Téglalap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Téglalap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Cím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hu-HU"/>
              <a:t>Mintacím szerkesztése</a:t>
            </a:r>
            <a:endParaRPr kumimoji="0" lang="en-US"/>
          </a:p>
        </p:txBody>
      </p:sp>
      <p:sp>
        <p:nvSpPr>
          <p:cNvPr id="9" name="Alcím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hu-HU"/>
              <a:t>Alcím mintájának szerkesztése</a:t>
            </a:r>
            <a:endParaRPr kumimoji="0" lang="en-US"/>
          </a:p>
        </p:txBody>
      </p:sp>
      <p:sp>
        <p:nvSpPr>
          <p:cNvPr id="28" name="Dátum helye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A491BB91-A39F-4777-9318-8FD6E2B23D12}" type="datetimeFigureOut">
              <a:rPr lang="hu-HU" smtClean="0"/>
              <a:pPr/>
              <a:t>2026. 09. 23.</a:t>
            </a:fld>
            <a:endParaRPr lang="hu-HU"/>
          </a:p>
        </p:txBody>
      </p:sp>
      <p:sp>
        <p:nvSpPr>
          <p:cNvPr id="17" name="Élőláb helye 16"/>
          <p:cNvSpPr>
            <a:spLocks noGrp="1"/>
          </p:cNvSpPr>
          <p:nvPr>
            <p:ph type="ftr" sz="quarter" idx="11"/>
          </p:nvPr>
        </p:nvSpPr>
        <p:spPr>
          <a:xfrm>
            <a:off x="2085393" y="236540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sp>
        <p:nvSpPr>
          <p:cNvPr id="29" name="Dia számának hely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617552E-8953-41D0-A793-45616C75B3F7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hu-HU"/>
              <a:t>Mintacím szerkesztése</a:t>
            </a:r>
            <a:endParaRPr kumimoji="0"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1BB91-A39F-4777-9318-8FD6E2B23D12}" type="datetimeFigureOut">
              <a:rPr lang="hu-HU" smtClean="0"/>
              <a:pPr/>
              <a:t>2026. 09. 23.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617552E-8953-41D0-A793-45616C75B3F7}" type="slidenum">
              <a:rPr lang="hu-HU" smtClean="0"/>
              <a:pPr/>
              <a:t>‹#›</a:t>
            </a:fld>
            <a:endParaRPr lang="hu-HU"/>
          </a:p>
        </p:txBody>
      </p:sp>
      <p:sp>
        <p:nvSpPr>
          <p:cNvPr id="8" name="Tartalom helye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hu-HU"/>
              <a:t>Mintaszöveg szerkesztése</a:t>
            </a:r>
          </a:p>
          <a:p>
            <a:pPr lvl="1" eaLnBrk="1" latinLnBrk="0" hangingPunct="1"/>
            <a:r>
              <a:rPr lang="hu-HU"/>
              <a:t>Második szint</a:t>
            </a:r>
          </a:p>
          <a:p>
            <a:pPr lvl="2" eaLnBrk="1" latinLnBrk="0" hangingPunct="1"/>
            <a:r>
              <a:rPr lang="hu-HU"/>
              <a:t>Harmadik szint</a:t>
            </a:r>
          </a:p>
          <a:p>
            <a:pPr lvl="3" eaLnBrk="1" latinLnBrk="0" hangingPunct="1"/>
            <a:r>
              <a:rPr lang="hu-HU"/>
              <a:t>Negyedik szint</a:t>
            </a:r>
          </a:p>
          <a:p>
            <a:pPr lvl="4" eaLnBrk="1" latinLnBrk="0" hangingPunct="1"/>
            <a:r>
              <a:rPr lang="hu-HU"/>
              <a:t>Ötödik szint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371601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hu-HU"/>
              <a:t>Mintaszöveg szerkesztése</a:t>
            </a:r>
          </a:p>
        </p:txBody>
      </p:sp>
      <p:sp>
        <p:nvSpPr>
          <p:cNvPr id="7" name="Téglalap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églalap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églalap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hu-HU"/>
              <a:t>Mintacím szerkesztése</a:t>
            </a:r>
            <a:endParaRPr kumimoji="0" lang="en-US"/>
          </a:p>
        </p:txBody>
      </p:sp>
      <p:sp>
        <p:nvSpPr>
          <p:cNvPr id="12" name="Dátum helye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1BB91-A39F-4777-9318-8FD6E2B23D12}" type="datetimeFigureOut">
              <a:rPr lang="hu-HU" smtClean="0"/>
              <a:pPr/>
              <a:t>2026. 09. 23.</a:t>
            </a:fld>
            <a:endParaRPr lang="hu-HU"/>
          </a:p>
        </p:txBody>
      </p:sp>
      <p:sp>
        <p:nvSpPr>
          <p:cNvPr id="13" name="Dia számának hely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A617552E-8953-41D0-A793-45616C75B3F7}" type="slidenum">
              <a:rPr lang="hu-HU" smtClean="0"/>
              <a:pPr/>
              <a:t>‹#›</a:t>
            </a:fld>
            <a:endParaRPr lang="hu-HU"/>
          </a:p>
        </p:txBody>
      </p:sp>
      <p:sp>
        <p:nvSpPr>
          <p:cNvPr id="14" name="Élőláb helye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hu-H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hu-HU"/>
              <a:t>Mintacím szerkesztése</a:t>
            </a:r>
            <a:endParaRPr kumimoji="0" lang="en-US"/>
          </a:p>
        </p:txBody>
      </p:sp>
      <p:sp>
        <p:nvSpPr>
          <p:cNvPr id="9" name="Tartalom helye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hu-HU"/>
              <a:t>Mintaszöveg szerkesztése</a:t>
            </a:r>
          </a:p>
          <a:p>
            <a:pPr lvl="1" eaLnBrk="1" latinLnBrk="0" hangingPunct="1"/>
            <a:r>
              <a:rPr lang="hu-HU"/>
              <a:t>Második szint</a:t>
            </a:r>
          </a:p>
          <a:p>
            <a:pPr lvl="2" eaLnBrk="1" latinLnBrk="0" hangingPunct="1"/>
            <a:r>
              <a:rPr lang="hu-HU"/>
              <a:t>Harmadik szint</a:t>
            </a:r>
          </a:p>
          <a:p>
            <a:pPr lvl="3" eaLnBrk="1" latinLnBrk="0" hangingPunct="1"/>
            <a:r>
              <a:rPr lang="hu-HU"/>
              <a:t>Negyedik szint</a:t>
            </a:r>
          </a:p>
          <a:p>
            <a:pPr lvl="4" eaLnBrk="1" latinLnBrk="0" hangingPunct="1"/>
            <a:r>
              <a:rPr lang="hu-HU"/>
              <a:t>Ötödik szint</a:t>
            </a:r>
            <a:endParaRPr kumimoji="0" lang="en-US"/>
          </a:p>
        </p:txBody>
      </p:sp>
      <p:sp>
        <p:nvSpPr>
          <p:cNvPr id="11" name="Tartalom helye 10"/>
          <p:cNvSpPr>
            <a:spLocks noGrp="1"/>
          </p:cNvSpPr>
          <p:nvPr>
            <p:ph sz="quarter" idx="2"/>
          </p:nvPr>
        </p:nvSpPr>
        <p:spPr>
          <a:xfrm>
            <a:off x="4844902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hu-HU"/>
              <a:t>Mintaszöveg szerkesztése</a:t>
            </a:r>
          </a:p>
          <a:p>
            <a:pPr lvl="1" eaLnBrk="1" latinLnBrk="0" hangingPunct="1"/>
            <a:r>
              <a:rPr lang="hu-HU"/>
              <a:t>Második szint</a:t>
            </a:r>
          </a:p>
          <a:p>
            <a:pPr lvl="2" eaLnBrk="1" latinLnBrk="0" hangingPunct="1"/>
            <a:r>
              <a:rPr lang="hu-HU"/>
              <a:t>Harmadik szint</a:t>
            </a:r>
          </a:p>
          <a:p>
            <a:pPr lvl="3" eaLnBrk="1" latinLnBrk="0" hangingPunct="1"/>
            <a:r>
              <a:rPr lang="hu-HU"/>
              <a:t>Negyedik szint</a:t>
            </a:r>
          </a:p>
          <a:p>
            <a:pPr lvl="4" eaLnBrk="1" latinLnBrk="0" hangingPunct="1"/>
            <a:r>
              <a:rPr lang="hu-HU"/>
              <a:t>Ötödik szint</a:t>
            </a:r>
            <a:endParaRPr kumimoji="0" lang="en-US"/>
          </a:p>
        </p:txBody>
      </p:sp>
      <p:sp>
        <p:nvSpPr>
          <p:cNvPr id="8" name="Dátum helye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A491BB91-A39F-4777-9318-8FD6E2B23D12}" type="datetimeFigureOut">
              <a:rPr lang="hu-HU" smtClean="0"/>
              <a:pPr/>
              <a:t>2026. 09. 23.</a:t>
            </a:fld>
            <a:endParaRPr lang="hu-HU"/>
          </a:p>
        </p:txBody>
      </p:sp>
      <p:sp>
        <p:nvSpPr>
          <p:cNvPr id="10" name="Dia számának hely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A617552E-8953-41D0-A793-45616C75B3F7}" type="slidenum">
              <a:rPr lang="hu-HU" smtClean="0"/>
              <a:pPr/>
              <a:t>‹#›</a:t>
            </a:fld>
            <a:endParaRPr lang="hu-HU"/>
          </a:p>
        </p:txBody>
      </p:sp>
      <p:sp>
        <p:nvSpPr>
          <p:cNvPr id="12" name="Élőláb helye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hu-H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hu-HU"/>
              <a:t>Mintacím szerkesztése</a:t>
            </a:r>
            <a:endParaRPr kumimoji="0" lang="en-US"/>
          </a:p>
        </p:txBody>
      </p:sp>
      <p:sp>
        <p:nvSpPr>
          <p:cNvPr id="11" name="Tartalom helye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hu-HU"/>
              <a:t>Mintaszöveg szerkesztése</a:t>
            </a:r>
          </a:p>
          <a:p>
            <a:pPr lvl="1" eaLnBrk="1" latinLnBrk="0" hangingPunct="1"/>
            <a:r>
              <a:rPr lang="hu-HU"/>
              <a:t>Második szint</a:t>
            </a:r>
          </a:p>
          <a:p>
            <a:pPr lvl="2" eaLnBrk="1" latinLnBrk="0" hangingPunct="1"/>
            <a:r>
              <a:rPr lang="hu-HU"/>
              <a:t>Harmadik szint</a:t>
            </a:r>
          </a:p>
          <a:p>
            <a:pPr lvl="3" eaLnBrk="1" latinLnBrk="0" hangingPunct="1"/>
            <a:r>
              <a:rPr lang="hu-HU"/>
              <a:t>Negyedik szint</a:t>
            </a:r>
          </a:p>
          <a:p>
            <a:pPr lvl="4" eaLnBrk="1" latinLnBrk="0" hangingPunct="1"/>
            <a:r>
              <a:rPr lang="hu-HU"/>
              <a:t>Ötödik szint</a:t>
            </a:r>
            <a:endParaRPr kumimoji="0" lang="en-US"/>
          </a:p>
        </p:txBody>
      </p:sp>
      <p:sp>
        <p:nvSpPr>
          <p:cNvPr id="13" name="Tartalom helye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hu-HU"/>
              <a:t>Mintaszöveg szerkesztése</a:t>
            </a:r>
          </a:p>
          <a:p>
            <a:pPr lvl="1" eaLnBrk="1" latinLnBrk="0" hangingPunct="1"/>
            <a:r>
              <a:rPr lang="hu-HU"/>
              <a:t>Második szint</a:t>
            </a:r>
          </a:p>
          <a:p>
            <a:pPr lvl="2" eaLnBrk="1" latinLnBrk="0" hangingPunct="1"/>
            <a:r>
              <a:rPr lang="hu-HU"/>
              <a:t>Harmadik szint</a:t>
            </a:r>
          </a:p>
          <a:p>
            <a:pPr lvl="3" eaLnBrk="1" latinLnBrk="0" hangingPunct="1"/>
            <a:r>
              <a:rPr lang="hu-HU"/>
              <a:t>Negyedik szint</a:t>
            </a:r>
          </a:p>
          <a:p>
            <a:pPr lvl="4" eaLnBrk="1" latinLnBrk="0" hangingPunct="1"/>
            <a:r>
              <a:rPr lang="hu-HU"/>
              <a:t>Ötödik szint</a:t>
            </a:r>
            <a:endParaRPr kumimoji="0" lang="en-US"/>
          </a:p>
        </p:txBody>
      </p:sp>
      <p:sp>
        <p:nvSpPr>
          <p:cNvPr id="10" name="Dátum helye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A491BB91-A39F-4777-9318-8FD6E2B23D12}" type="datetimeFigureOut">
              <a:rPr lang="hu-HU" smtClean="0"/>
              <a:pPr/>
              <a:t>2026. 09. 23.</a:t>
            </a:fld>
            <a:endParaRPr lang="hu-HU"/>
          </a:p>
        </p:txBody>
      </p:sp>
      <p:sp>
        <p:nvSpPr>
          <p:cNvPr id="12" name="Dia számának hely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A617552E-8953-41D0-A793-45616C75B3F7}" type="slidenum">
              <a:rPr lang="hu-HU" smtClean="0"/>
              <a:pPr/>
              <a:t>‹#›</a:t>
            </a:fld>
            <a:endParaRPr lang="hu-HU"/>
          </a:p>
        </p:txBody>
      </p:sp>
      <p:sp>
        <p:nvSpPr>
          <p:cNvPr id="14" name="Élőláb helye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hu-HU"/>
          </a:p>
        </p:txBody>
      </p:sp>
      <p:sp>
        <p:nvSpPr>
          <p:cNvPr id="16" name="Szöveg helye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hu-HU"/>
              <a:t>Mintaszöveg szerkesztése</a:t>
            </a:r>
          </a:p>
        </p:txBody>
      </p:sp>
      <p:sp>
        <p:nvSpPr>
          <p:cNvPr id="15" name="Szöveg helye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hu-HU"/>
              <a:t>Mintaszöveg szerkesztése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hu-HU"/>
              <a:t>Mintacím szerkesztése</a:t>
            </a:r>
            <a:endParaRPr kumimoji="0" lang="en-US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1BB91-A39F-4777-9318-8FD6E2B23D12}" type="datetimeFigureOut">
              <a:rPr lang="hu-HU" smtClean="0"/>
              <a:pPr/>
              <a:t>2026. 09. 23.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617552E-8953-41D0-A793-45616C75B3F7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1BB91-A39F-4777-9318-8FD6E2B23D12}" type="datetimeFigureOut">
              <a:rPr lang="hu-HU" smtClean="0"/>
              <a:pPr/>
              <a:t>2026. 09. 23.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617552E-8953-41D0-A793-45616C75B3F7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hu-HU"/>
              <a:t>Mintacím szerkesztése</a:t>
            </a:r>
            <a:endParaRPr kumimoji="0" lang="en-US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1BB91-A39F-4777-9318-8FD6E2B23D12}" type="datetimeFigureOut">
              <a:rPr lang="hu-HU" smtClean="0"/>
              <a:pPr/>
              <a:t>2026. 09. 23.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617552E-8953-41D0-A793-45616C75B3F7}" type="slidenum">
              <a:rPr lang="hu-HU" smtClean="0"/>
              <a:pPr/>
              <a:t>‹#›</a:t>
            </a:fld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hu-HU"/>
              <a:t>Mintaszöveg szerkesztése</a:t>
            </a:r>
          </a:p>
        </p:txBody>
      </p:sp>
      <p:sp>
        <p:nvSpPr>
          <p:cNvPr id="9" name="Tartalom helye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hu-HU"/>
              <a:t>Mintaszöveg szerkesztése</a:t>
            </a:r>
          </a:p>
          <a:p>
            <a:pPr lvl="1" eaLnBrk="1" latinLnBrk="0" hangingPunct="1"/>
            <a:r>
              <a:rPr lang="hu-HU"/>
              <a:t>Második szint</a:t>
            </a:r>
          </a:p>
          <a:p>
            <a:pPr lvl="2" eaLnBrk="1" latinLnBrk="0" hangingPunct="1"/>
            <a:r>
              <a:rPr lang="hu-HU"/>
              <a:t>Harmadik szint</a:t>
            </a:r>
          </a:p>
          <a:p>
            <a:pPr lvl="3" eaLnBrk="1" latinLnBrk="0" hangingPunct="1"/>
            <a:r>
              <a:rPr lang="hu-HU"/>
              <a:t>Negyedik szint</a:t>
            </a:r>
          </a:p>
          <a:p>
            <a:pPr lvl="4" eaLnBrk="1" latinLnBrk="0" hangingPunct="1"/>
            <a:r>
              <a:rPr lang="hu-HU"/>
              <a:t>Ötödik szint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hu-HU"/>
              <a:t>Mintaszöveg szerkesztése</a:t>
            </a:r>
          </a:p>
        </p:txBody>
      </p:sp>
      <p:sp>
        <p:nvSpPr>
          <p:cNvPr id="8" name="Téglalap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églalap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Téglalap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hu-HU"/>
              <a:t>Mintacím szerkesztése</a:t>
            </a:r>
            <a:endParaRPr kumimoji="0" lang="en-US"/>
          </a:p>
        </p:txBody>
      </p:sp>
      <p:sp>
        <p:nvSpPr>
          <p:cNvPr id="11" name="Téglalap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átum helye 11"/>
          <p:cNvSpPr>
            <a:spLocks noGrp="1"/>
          </p:cNvSpPr>
          <p:nvPr>
            <p:ph type="dt" sz="half" idx="10"/>
          </p:nvPr>
        </p:nvSpPr>
        <p:spPr>
          <a:xfrm>
            <a:off x="6248400" y="6248402"/>
            <a:ext cx="2667000" cy="365125"/>
          </a:xfrm>
        </p:spPr>
        <p:txBody>
          <a:bodyPr rtlCol="0"/>
          <a:lstStyle/>
          <a:p>
            <a:fld id="{A491BB91-A39F-4777-9318-8FD6E2B23D12}" type="datetimeFigureOut">
              <a:rPr lang="hu-HU" smtClean="0"/>
              <a:pPr/>
              <a:t>2026. 09. 23.</a:t>
            </a:fld>
            <a:endParaRPr lang="hu-HU"/>
          </a:p>
        </p:txBody>
      </p:sp>
      <p:sp>
        <p:nvSpPr>
          <p:cNvPr id="13" name="Dia számának hely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A617552E-8953-41D0-A793-45616C75B3F7}" type="slidenum">
              <a:rPr lang="hu-HU" smtClean="0"/>
              <a:pPr/>
              <a:t>‹#›</a:t>
            </a:fld>
            <a:endParaRPr lang="hu-HU"/>
          </a:p>
        </p:txBody>
      </p:sp>
      <p:sp>
        <p:nvSpPr>
          <p:cNvPr id="14" name="Élőláb helye 13"/>
          <p:cNvSpPr>
            <a:spLocks noGrp="1"/>
          </p:cNvSpPr>
          <p:nvPr>
            <p:ph type="ftr" sz="quarter" idx="12"/>
          </p:nvPr>
        </p:nvSpPr>
        <p:spPr>
          <a:xfrm>
            <a:off x="1600200" y="6248208"/>
            <a:ext cx="4572000" cy="365125"/>
          </a:xfrm>
        </p:spPr>
        <p:txBody>
          <a:bodyPr rtlCol="0"/>
          <a:lstStyle/>
          <a:p>
            <a:endParaRPr lang="hu-HU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hu-HU"/>
              <a:t>Kép beszúrásához kattintson az ikonra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hu-HU"/>
              <a:t>Mintacím szerkesztése</a:t>
            </a:r>
            <a:endParaRPr kumimoji="0" lang="en-US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hu-HU"/>
              <a:t>Mintaszöveg szerkesztése</a:t>
            </a:r>
          </a:p>
          <a:p>
            <a:pPr lvl="1" eaLnBrk="1" latinLnBrk="0" hangingPunct="1"/>
            <a:r>
              <a:rPr lang="hu-HU"/>
              <a:t>Második szint</a:t>
            </a:r>
          </a:p>
          <a:p>
            <a:pPr lvl="2" eaLnBrk="1" latinLnBrk="0" hangingPunct="1"/>
            <a:r>
              <a:rPr lang="hu-HU"/>
              <a:t>Harmadik szint</a:t>
            </a:r>
          </a:p>
          <a:p>
            <a:pPr lvl="3" eaLnBrk="1" latinLnBrk="0" hangingPunct="1"/>
            <a:r>
              <a:rPr lang="hu-HU"/>
              <a:t>Negyedik szint</a:t>
            </a:r>
          </a:p>
          <a:p>
            <a:pPr lvl="4" eaLnBrk="1" latinLnBrk="0" hangingPunct="1"/>
            <a:r>
              <a:rPr lang="hu-HU"/>
              <a:t>Ötödik szint</a:t>
            </a:r>
            <a:endParaRPr kumimoji="0"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1BB91-A39F-4777-9318-8FD6E2B23D12}" type="datetimeFigureOut">
              <a:rPr lang="hu-HU" smtClean="0"/>
              <a:pPr/>
              <a:t>2026. 09. 23.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552E-8953-41D0-A793-45616C75B3F7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Függőleges cím és szöve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6553200" y="609602"/>
            <a:ext cx="2057400" cy="5516563"/>
          </a:xfrm>
        </p:spPr>
        <p:txBody>
          <a:bodyPr vert="eaVert"/>
          <a:lstStyle/>
          <a:p>
            <a:r>
              <a:rPr kumimoji="0" lang="hu-HU"/>
              <a:t>Mintacím szerkesztése</a:t>
            </a:r>
            <a:endParaRPr kumimoji="0" lang="en-US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hu-HU"/>
              <a:t>Mintaszöveg szerkesztése</a:t>
            </a:r>
          </a:p>
          <a:p>
            <a:pPr lvl="1" eaLnBrk="1" latinLnBrk="0" hangingPunct="1"/>
            <a:r>
              <a:rPr lang="hu-HU"/>
              <a:t>Második szint</a:t>
            </a:r>
          </a:p>
          <a:p>
            <a:pPr lvl="2" eaLnBrk="1" latinLnBrk="0" hangingPunct="1"/>
            <a:r>
              <a:rPr lang="hu-HU"/>
              <a:t>Harmadik szint</a:t>
            </a:r>
          </a:p>
          <a:p>
            <a:pPr lvl="3" eaLnBrk="1" latinLnBrk="0" hangingPunct="1"/>
            <a:r>
              <a:rPr lang="hu-HU"/>
              <a:t>Negyedik szint</a:t>
            </a:r>
          </a:p>
          <a:p>
            <a:pPr lvl="4" eaLnBrk="1" latinLnBrk="0" hangingPunct="1"/>
            <a:r>
              <a:rPr lang="hu-HU"/>
              <a:t>Ötödik szint</a:t>
            </a:r>
            <a:endParaRPr kumimoji="0"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>
          <a:xfrm>
            <a:off x="6553200" y="6248404"/>
            <a:ext cx="2209800" cy="365125"/>
          </a:xfrm>
        </p:spPr>
        <p:txBody>
          <a:bodyPr/>
          <a:lstStyle/>
          <a:p>
            <a:fld id="{A491BB91-A39F-4777-9318-8FD6E2B23D12}" type="datetimeFigureOut">
              <a:rPr lang="hu-HU" smtClean="0"/>
              <a:pPr/>
              <a:t>2026. 09. 23.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457202" y="6248209"/>
            <a:ext cx="5573483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7" name="Téglalap 6"/>
          <p:cNvSpPr/>
          <p:nvPr/>
        </p:nvSpPr>
        <p:spPr bwMode="white">
          <a:xfrm>
            <a:off x="6096319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églalap 7"/>
          <p:cNvSpPr/>
          <p:nvPr/>
        </p:nvSpPr>
        <p:spPr>
          <a:xfrm>
            <a:off x="6142039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églalap 8"/>
          <p:cNvSpPr/>
          <p:nvPr/>
        </p:nvSpPr>
        <p:spPr>
          <a:xfrm>
            <a:off x="6142039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A617552E-8953-41D0-A793-45616C75B3F7}" type="slidenum">
              <a:rPr lang="hu-HU" smtClean="0"/>
              <a:pPr/>
              <a:t>‹#›</a:t>
            </a:fld>
            <a:endParaRPr lang="hu-H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ím helye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hu-HU"/>
              <a:t>Mintacím szerkesztése</a:t>
            </a:r>
            <a:endParaRPr kumimoji="0" lang="en-US"/>
          </a:p>
        </p:txBody>
      </p:sp>
      <p:sp>
        <p:nvSpPr>
          <p:cNvPr id="13" name="Szöveg helye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hu-HU"/>
              <a:t>Mintaszöveg szerkesztése</a:t>
            </a:r>
          </a:p>
          <a:p>
            <a:pPr lvl="1" eaLnBrk="1" latinLnBrk="0" hangingPunct="1"/>
            <a:r>
              <a:rPr kumimoji="0" lang="hu-HU"/>
              <a:t>Második szint</a:t>
            </a:r>
          </a:p>
          <a:p>
            <a:pPr lvl="2" eaLnBrk="1" latinLnBrk="0" hangingPunct="1"/>
            <a:r>
              <a:rPr kumimoji="0" lang="hu-HU"/>
              <a:t>Harmadik szint</a:t>
            </a:r>
          </a:p>
          <a:p>
            <a:pPr lvl="3" eaLnBrk="1" latinLnBrk="0" hangingPunct="1"/>
            <a:r>
              <a:rPr kumimoji="0" lang="hu-HU"/>
              <a:t>Negyedik szint</a:t>
            </a:r>
          </a:p>
          <a:p>
            <a:pPr lvl="4" eaLnBrk="1" latinLnBrk="0" hangingPunct="1"/>
            <a:r>
              <a:rPr kumimoji="0" lang="hu-HU"/>
              <a:t>Ötödik szint</a:t>
            </a:r>
            <a:endParaRPr kumimoji="0" lang="en-US"/>
          </a:p>
        </p:txBody>
      </p:sp>
      <p:sp>
        <p:nvSpPr>
          <p:cNvPr id="14" name="Dátum helye 13"/>
          <p:cNvSpPr>
            <a:spLocks noGrp="1"/>
          </p:cNvSpPr>
          <p:nvPr>
            <p:ph type="dt" sz="half" idx="2"/>
          </p:nvPr>
        </p:nvSpPr>
        <p:spPr>
          <a:xfrm>
            <a:off x="6096000" y="6248402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491BB91-A39F-4777-9318-8FD6E2B23D12}" type="datetimeFigureOut">
              <a:rPr lang="hu-HU" smtClean="0"/>
              <a:pPr/>
              <a:t>2026. 09. 23.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3"/>
          </p:nvPr>
        </p:nvSpPr>
        <p:spPr>
          <a:xfrm>
            <a:off x="609601" y="6248208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sp>
        <p:nvSpPr>
          <p:cNvPr id="7" name="Téglalap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églalap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églalap 8"/>
          <p:cNvSpPr/>
          <p:nvPr/>
        </p:nvSpPr>
        <p:spPr>
          <a:xfrm>
            <a:off x="590551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Dia számának hely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A617552E-8953-41D0-A793-45616C75B3F7}" type="slidenum">
              <a:rPr lang="hu-HU" smtClean="0"/>
              <a:pPr/>
              <a:t>‹#›</a:t>
            </a:fld>
            <a:endParaRPr lang="hu-H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/>
          <a:lstStyle/>
          <a:p>
            <a:r>
              <a:rPr lang="hu-HU" dirty="0"/>
              <a:t>SQL NYELV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hu-HU" dirty="0"/>
              <a:t>adatdefiníciós (DDL - Data </a:t>
            </a:r>
            <a:r>
              <a:rPr lang="hu-HU" dirty="0" err="1"/>
              <a:t>Definition</a:t>
            </a:r>
            <a:r>
              <a:rPr lang="hu-HU" dirty="0"/>
              <a:t> </a:t>
            </a:r>
            <a:r>
              <a:rPr lang="hu-HU" dirty="0" err="1"/>
              <a:t>Language</a:t>
            </a:r>
            <a:r>
              <a:rPr lang="hu-HU" dirty="0"/>
              <a:t>), adatmanipulációs (DML - Data </a:t>
            </a:r>
            <a:r>
              <a:rPr lang="hu-HU" dirty="0" err="1"/>
              <a:t>Manipulation</a:t>
            </a:r>
            <a:r>
              <a:rPr lang="hu-HU" dirty="0"/>
              <a:t> </a:t>
            </a:r>
            <a:r>
              <a:rPr lang="hu-HU" dirty="0" err="1"/>
              <a:t>Language</a:t>
            </a:r>
            <a:r>
              <a:rPr lang="hu-HU" dirty="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SQL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>
          <a:xfrm>
            <a:off x="642910" y="1428736"/>
            <a:ext cx="8153400" cy="52578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hu-HU" sz="2400" dirty="0" err="1"/>
              <a:t>Structured</a:t>
            </a:r>
            <a:r>
              <a:rPr lang="hu-HU" sz="2400" dirty="0"/>
              <a:t> </a:t>
            </a:r>
            <a:r>
              <a:rPr lang="hu-HU" sz="2400" dirty="0" err="1"/>
              <a:t>Query</a:t>
            </a:r>
            <a:r>
              <a:rPr lang="hu-HU" sz="2400" dirty="0"/>
              <a:t> </a:t>
            </a:r>
            <a:r>
              <a:rPr lang="hu-HU" sz="2400" dirty="0" err="1"/>
              <a:t>Language</a:t>
            </a:r>
            <a:r>
              <a:rPr lang="hu-HU" sz="2400" dirty="0"/>
              <a:t> – </a:t>
            </a:r>
            <a:r>
              <a:rPr lang="hu-HU" sz="2400" dirty="0" err="1"/>
              <a:t>struktúrált</a:t>
            </a:r>
            <a:r>
              <a:rPr lang="hu-HU" sz="2400" dirty="0"/>
              <a:t> lekérdezőnyelv</a:t>
            </a:r>
          </a:p>
          <a:p>
            <a:pPr>
              <a:spcBef>
                <a:spcPts val="0"/>
              </a:spcBef>
            </a:pPr>
            <a:r>
              <a:rPr lang="hu-HU" sz="2400" dirty="0"/>
              <a:t>A relációs adatbázis-kezelők lekérdező nyelve</a:t>
            </a:r>
          </a:p>
          <a:p>
            <a:pPr>
              <a:spcBef>
                <a:spcPts val="0"/>
              </a:spcBef>
            </a:pPr>
            <a:r>
              <a:rPr lang="hu-HU" sz="2400" dirty="0"/>
              <a:t>Története</a:t>
            </a:r>
          </a:p>
          <a:p>
            <a:pPr lvl="1">
              <a:spcBef>
                <a:spcPts val="0"/>
              </a:spcBef>
            </a:pPr>
            <a:r>
              <a:rPr lang="hu-HU" sz="2100" dirty="0"/>
              <a:t>Az alapjait az IBM-nél fektették le az 1970-es években</a:t>
            </a:r>
          </a:p>
          <a:p>
            <a:pPr lvl="1">
              <a:spcBef>
                <a:spcPts val="0"/>
              </a:spcBef>
            </a:pPr>
            <a:r>
              <a:rPr lang="hu-HU" sz="2100" dirty="0"/>
              <a:t>Elvi alapot a relációs adatmodell szolgáltatott</a:t>
            </a:r>
          </a:p>
          <a:p>
            <a:pPr lvl="1">
              <a:spcBef>
                <a:spcPts val="0"/>
              </a:spcBef>
            </a:pPr>
            <a:r>
              <a:rPr lang="hu-HU" sz="2100" dirty="0"/>
              <a:t>A szabványos lekérdezőnyelv kialakításában az IBM, az Oracle és más gyártók is érdekeltek voltak, mert a relációs adatbázisok programozhatók</a:t>
            </a:r>
          </a:p>
          <a:p>
            <a:pPr lvl="1">
              <a:spcBef>
                <a:spcPts val="0"/>
              </a:spcBef>
            </a:pPr>
            <a:r>
              <a:rPr lang="hu-HU" sz="2100" dirty="0"/>
              <a:t>Az iparági összefogással létrejött ANSI NCITS (National </a:t>
            </a:r>
            <a:r>
              <a:rPr lang="hu-HU" sz="2100" dirty="0" err="1"/>
              <a:t>Committee</a:t>
            </a:r>
            <a:r>
              <a:rPr lang="hu-HU" sz="2100" dirty="0"/>
              <a:t> </a:t>
            </a:r>
            <a:r>
              <a:rPr lang="hu-HU" sz="2100" dirty="0" err="1"/>
              <a:t>on</a:t>
            </a:r>
            <a:r>
              <a:rPr lang="hu-HU" sz="2100" dirty="0"/>
              <a:t> </a:t>
            </a:r>
            <a:r>
              <a:rPr lang="hu-HU" sz="2100" dirty="0" err="1"/>
              <a:t>Information</a:t>
            </a:r>
            <a:r>
              <a:rPr lang="hu-HU" sz="2100" dirty="0"/>
              <a:t> </a:t>
            </a:r>
            <a:r>
              <a:rPr lang="hu-HU" sz="2100" dirty="0" err="1"/>
              <a:t>Technology</a:t>
            </a:r>
            <a:r>
              <a:rPr lang="hu-HU" sz="2100" dirty="0"/>
              <a:t> </a:t>
            </a:r>
            <a:r>
              <a:rPr lang="hu-HU" sz="2100" dirty="0" err="1"/>
              <a:t>Standards</a:t>
            </a:r>
            <a:r>
              <a:rPr lang="hu-HU" sz="2100" dirty="0"/>
              <a:t>) H2 csoport lerakta az SQL alapjait.</a:t>
            </a:r>
          </a:p>
          <a:p>
            <a:pPr lvl="1">
              <a:spcBef>
                <a:spcPts val="0"/>
              </a:spcBef>
            </a:pPr>
            <a:r>
              <a:rPr lang="hu-HU" sz="2100" dirty="0"/>
              <a:t>A szabványt az ANSI (Amerikai Nemzeti Szabványügyi Intézet – American National </a:t>
            </a:r>
            <a:r>
              <a:rPr lang="hu-HU" sz="2100" dirty="0" err="1"/>
              <a:t>Standards</a:t>
            </a:r>
            <a:r>
              <a:rPr lang="hu-HU" sz="2100" dirty="0"/>
              <a:t> Institute) 1986-ban, az ISO (Nemzetközi Szabványügyi Szervezet – International Organization </a:t>
            </a:r>
            <a:r>
              <a:rPr lang="hu-HU" sz="2100" dirty="0" err="1"/>
              <a:t>for</a:t>
            </a:r>
            <a:r>
              <a:rPr lang="hu-HU" sz="2100" dirty="0"/>
              <a:t> </a:t>
            </a:r>
            <a:r>
              <a:rPr lang="hu-HU" sz="2100" dirty="0" err="1"/>
              <a:t>Standardization</a:t>
            </a:r>
            <a:r>
              <a:rPr lang="hu-HU" sz="2100" dirty="0"/>
              <a:t>) 1987-ben jegyezte be. Az első változatot SQL86 néven is szokták emlegetni.</a:t>
            </a:r>
          </a:p>
          <a:p>
            <a:pPr lvl="1">
              <a:spcBef>
                <a:spcPts val="0"/>
              </a:spcBef>
            </a:pPr>
            <a:endParaRPr lang="hu-HU" sz="2100" dirty="0"/>
          </a:p>
          <a:p>
            <a:pPr>
              <a:spcBef>
                <a:spcPts val="0"/>
              </a:spcBef>
            </a:pPr>
            <a:endParaRPr lang="hu-HU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Feladat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257800"/>
          </a:xfrm>
        </p:spPr>
        <p:txBody>
          <a:bodyPr>
            <a:normAutofit lnSpcReduction="1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hu-HU" dirty="0"/>
              <a:t>Hozzunk létre egy TERMEK adatbázist!</a:t>
            </a:r>
          </a:p>
          <a:p>
            <a:pPr marL="514350" lvl="0" indent="-514350">
              <a:buFont typeface="+mj-lt"/>
              <a:buAutoNum type="arabicPeriod"/>
            </a:pPr>
            <a:r>
              <a:rPr lang="hu-HU" dirty="0"/>
              <a:t>Ebben hozzunk létre egy ZOLDSEG táblát, az alábbi mezőkkel:</a:t>
            </a:r>
            <a:br>
              <a:rPr lang="hu-HU" dirty="0"/>
            </a:br>
            <a:r>
              <a:rPr lang="hu-HU" dirty="0"/>
              <a:t>SORSZAM – 4B-os egész szám (elsődleges kulcs)</a:t>
            </a:r>
            <a:br>
              <a:rPr lang="hu-HU" dirty="0"/>
            </a:br>
            <a:r>
              <a:rPr lang="hu-HU" dirty="0"/>
              <a:t>NEV – </a:t>
            </a:r>
            <a:r>
              <a:rPr lang="hu-HU" dirty="0" err="1"/>
              <a:t>max</a:t>
            </a:r>
            <a:r>
              <a:rPr lang="hu-HU" dirty="0"/>
              <a:t> 25 karakteres szöveg</a:t>
            </a:r>
            <a:br>
              <a:rPr lang="hu-HU" dirty="0"/>
            </a:br>
            <a:r>
              <a:rPr lang="hu-HU" dirty="0"/>
              <a:t>AR - </a:t>
            </a:r>
            <a:r>
              <a:rPr lang="hu-HU"/>
              <a:t>2B-os egész szám</a:t>
            </a:r>
            <a:br>
              <a:rPr lang="hu-HU" dirty="0"/>
            </a:br>
            <a:r>
              <a:rPr lang="hu-HU" dirty="0"/>
              <a:t>BESZ_DATUM –dátum</a:t>
            </a:r>
            <a:br>
              <a:rPr lang="hu-HU" dirty="0"/>
            </a:br>
            <a:r>
              <a:rPr lang="hu-HU" dirty="0"/>
              <a:t>ENGEDMENYES – logikai</a:t>
            </a:r>
          </a:p>
          <a:p>
            <a:pPr marL="514350" lvl="0" indent="-514350">
              <a:buFont typeface="+mj-lt"/>
              <a:buAutoNum type="arabicPeriod"/>
            </a:pPr>
            <a:r>
              <a:rPr lang="hu-HU" dirty="0"/>
              <a:t>Töltsük fel adatokkal a ZOLDSEG táblát!</a:t>
            </a:r>
          </a:p>
          <a:p>
            <a:pPr marL="514350" lvl="0" indent="-514350">
              <a:buFont typeface="+mj-lt"/>
              <a:buAutoNum type="arabicPeriod"/>
            </a:pPr>
            <a:r>
              <a:rPr lang="hu-HU" dirty="0"/>
              <a:t>Módosítsunk valamelyik adaton a táblában!</a:t>
            </a:r>
          </a:p>
          <a:p>
            <a:pPr marL="514350" lvl="0" indent="-514350">
              <a:buFont typeface="+mj-lt"/>
              <a:buAutoNum type="arabicPeriod"/>
            </a:pPr>
            <a:r>
              <a:rPr lang="hu-HU" dirty="0"/>
              <a:t>Töröljük az egyik rekordot a táblából!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Adatdefiníciós utasítások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>
          <a:xfrm>
            <a:off x="125760" y="1600200"/>
            <a:ext cx="8892480" cy="5257800"/>
          </a:xfrm>
        </p:spPr>
        <p:txBody>
          <a:bodyPr>
            <a:normAutofit/>
          </a:bodyPr>
          <a:lstStyle/>
          <a:p>
            <a:r>
              <a:rPr lang="hu-HU" b="1" dirty="0">
                <a:solidFill>
                  <a:srgbClr val="FF0000"/>
                </a:solidFill>
              </a:rPr>
              <a:t>CREATE DATABASE </a:t>
            </a:r>
            <a:r>
              <a:rPr lang="hu-HU" dirty="0"/>
              <a:t>– adatbázis létrehozása</a:t>
            </a:r>
          </a:p>
          <a:p>
            <a:pPr>
              <a:buNone/>
            </a:pPr>
            <a:r>
              <a:rPr lang="hu-HU" sz="3000" dirty="0"/>
              <a:t>Pl. CREATE DATABASE termek;</a:t>
            </a:r>
          </a:p>
          <a:p>
            <a:pPr>
              <a:buNone/>
            </a:pPr>
            <a:r>
              <a:rPr lang="hu-HU" sz="3000" dirty="0"/>
              <a:t>Az SQL utasításokat pontosvessző zárja le.</a:t>
            </a:r>
          </a:p>
          <a:p>
            <a:pPr>
              <a:buNone/>
            </a:pPr>
            <a:r>
              <a:rPr lang="hu-HU" sz="3000" dirty="0"/>
              <a:t>Ha szeretnénk, hogy a magyar ékezetes karakterek helyesen </a:t>
            </a:r>
            <a:r>
              <a:rPr lang="hu-HU" sz="3000" dirty="0" err="1"/>
              <a:t>látszódjanak</a:t>
            </a:r>
            <a:r>
              <a:rPr lang="hu-HU" sz="3000" dirty="0"/>
              <a:t> a táblákban, akkor az alábbi utasítást kell használnunk. (UTF8 karakterkódolással)</a:t>
            </a:r>
          </a:p>
          <a:p>
            <a:pPr>
              <a:buNone/>
            </a:pPr>
            <a:r>
              <a:rPr lang="hu-HU" sz="3000" dirty="0"/>
              <a:t>CREATE DATABASE termek CHARACTER SET=utf8 </a:t>
            </a:r>
            <a:br>
              <a:rPr lang="hu-HU" sz="3000" dirty="0"/>
            </a:br>
            <a:r>
              <a:rPr lang="hu-HU" sz="3000" dirty="0"/>
              <a:t>COLLATE utf8_hungarian_ci;</a:t>
            </a:r>
          </a:p>
          <a:p>
            <a:pPr>
              <a:buNone/>
            </a:pPr>
            <a:r>
              <a:rPr lang="hu-HU" sz="3000" dirty="0"/>
              <a:t>CREATE DATABASE termek DEFAULT CHARACTER SET utf8 </a:t>
            </a:r>
            <a:br>
              <a:rPr lang="hu-HU" sz="3000" dirty="0"/>
            </a:br>
            <a:r>
              <a:rPr lang="hu-HU" sz="3000" dirty="0"/>
              <a:t>COLLATE utf8_hungarian_ci;</a:t>
            </a:r>
          </a:p>
          <a:p>
            <a:pPr>
              <a:buNone/>
            </a:pPr>
            <a:endParaRPr lang="hu-HU" dirty="0"/>
          </a:p>
          <a:p>
            <a:endParaRPr lang="hu-H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Adatdefiníciós utasítások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hu-HU" b="1" dirty="0">
                <a:solidFill>
                  <a:srgbClr val="FF0000"/>
                </a:solidFill>
              </a:rPr>
              <a:t>CREATE TABLE </a:t>
            </a:r>
            <a:r>
              <a:rPr lang="hu-HU" dirty="0"/>
              <a:t>– tábla létrehozása</a:t>
            </a:r>
          </a:p>
          <a:p>
            <a:pPr>
              <a:buNone/>
            </a:pPr>
            <a:r>
              <a:rPr lang="hu-HU" dirty="0"/>
              <a:t>Pl. CREATE TABLE </a:t>
            </a:r>
            <a:r>
              <a:rPr lang="hu-HU" dirty="0" err="1"/>
              <a:t>zoldseg</a:t>
            </a:r>
            <a:endParaRPr lang="hu-HU" dirty="0"/>
          </a:p>
          <a:p>
            <a:pPr>
              <a:buNone/>
            </a:pPr>
            <a:r>
              <a:rPr lang="hu-HU" dirty="0"/>
              <a:t>(SORSZAM int,</a:t>
            </a:r>
          </a:p>
          <a:p>
            <a:pPr>
              <a:buNone/>
            </a:pPr>
            <a:r>
              <a:rPr lang="hu-HU" dirty="0"/>
              <a:t>NEV </a:t>
            </a:r>
            <a:r>
              <a:rPr lang="hu-HU" dirty="0" err="1"/>
              <a:t>varchar</a:t>
            </a:r>
            <a:r>
              <a:rPr lang="hu-HU" dirty="0"/>
              <a:t>(25),</a:t>
            </a:r>
          </a:p>
          <a:p>
            <a:pPr>
              <a:buNone/>
            </a:pPr>
            <a:r>
              <a:rPr lang="hu-HU" dirty="0"/>
              <a:t>AR </a:t>
            </a:r>
            <a:r>
              <a:rPr lang="hu-HU" dirty="0" err="1"/>
              <a:t>smallint</a:t>
            </a:r>
            <a:r>
              <a:rPr lang="hu-HU" dirty="0"/>
              <a:t>,</a:t>
            </a:r>
          </a:p>
          <a:p>
            <a:pPr>
              <a:buNone/>
            </a:pPr>
            <a:r>
              <a:rPr lang="hu-HU" dirty="0"/>
              <a:t>BESZ_DATUM </a:t>
            </a:r>
            <a:r>
              <a:rPr lang="hu-HU" dirty="0" err="1"/>
              <a:t>date</a:t>
            </a:r>
            <a:r>
              <a:rPr lang="hu-HU" dirty="0"/>
              <a:t>,</a:t>
            </a:r>
          </a:p>
          <a:p>
            <a:pPr>
              <a:buNone/>
            </a:pPr>
            <a:r>
              <a:rPr lang="hu-HU" dirty="0"/>
              <a:t>ENGEDMENYES BINARY,</a:t>
            </a:r>
          </a:p>
          <a:p>
            <a:pPr>
              <a:buNone/>
            </a:pPr>
            <a:r>
              <a:rPr lang="hu-HU" dirty="0"/>
              <a:t>PRIMARY KEY(SORSZAM));</a:t>
            </a:r>
          </a:p>
          <a:p>
            <a:pPr>
              <a:buNone/>
            </a:pPr>
            <a:endParaRPr lang="hu-H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Adatdefiníciós utasítások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757758"/>
          </a:xfrm>
        </p:spPr>
        <p:txBody>
          <a:bodyPr>
            <a:normAutofit/>
          </a:bodyPr>
          <a:lstStyle/>
          <a:p>
            <a:r>
              <a:rPr lang="hu-HU" b="1" dirty="0">
                <a:solidFill>
                  <a:srgbClr val="FF0000"/>
                </a:solidFill>
              </a:rPr>
              <a:t>RENAME TABLE </a:t>
            </a:r>
            <a:r>
              <a:rPr lang="hu-HU" dirty="0"/>
              <a:t>- tábla átnevezése</a:t>
            </a:r>
          </a:p>
          <a:p>
            <a:pPr>
              <a:buNone/>
            </a:pPr>
            <a:r>
              <a:rPr lang="hu-HU" dirty="0"/>
              <a:t>Pl. RENAME TABLE </a:t>
            </a:r>
            <a:r>
              <a:rPr lang="hu-HU" dirty="0" err="1"/>
              <a:t>zoldseg</a:t>
            </a:r>
            <a:r>
              <a:rPr lang="hu-HU" dirty="0"/>
              <a:t> TO </a:t>
            </a:r>
            <a:r>
              <a:rPr lang="hu-HU" dirty="0" err="1"/>
              <a:t>zoldsegek</a:t>
            </a:r>
            <a:r>
              <a:rPr lang="hu-HU" dirty="0"/>
              <a:t>;</a:t>
            </a:r>
          </a:p>
          <a:p>
            <a:pPr>
              <a:spcAft>
                <a:spcPts val="1200"/>
              </a:spcAft>
              <a:buNone/>
            </a:pP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Átnevezi a </a:t>
            </a:r>
            <a:r>
              <a:rPr lang="hu-HU" dirty="0" err="1">
                <a:solidFill>
                  <a:schemeClr val="bg1">
                    <a:lumMod val="50000"/>
                  </a:schemeClr>
                </a:solidFill>
              </a:rPr>
              <a:t>zoldseg</a:t>
            </a: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 táblát </a:t>
            </a:r>
            <a:r>
              <a:rPr lang="hu-HU" dirty="0" err="1">
                <a:solidFill>
                  <a:schemeClr val="bg1">
                    <a:lumMod val="50000"/>
                  </a:schemeClr>
                </a:solidFill>
              </a:rPr>
              <a:t>zoldsegekre</a:t>
            </a: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pPr>
              <a:buNone/>
            </a:pPr>
            <a:endParaRPr lang="hu-HU" dirty="0"/>
          </a:p>
          <a:p>
            <a:pPr>
              <a:buNone/>
            </a:pPr>
            <a:endParaRPr lang="hu-HU" dirty="0"/>
          </a:p>
          <a:p>
            <a:pPr>
              <a:buNone/>
            </a:pPr>
            <a:endParaRPr lang="hu-HU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Adatdefiníciós utasítások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>
          <a:xfrm>
            <a:off x="357158" y="1600200"/>
            <a:ext cx="8501122" cy="5043510"/>
          </a:xfrm>
        </p:spPr>
        <p:txBody>
          <a:bodyPr>
            <a:normAutofit lnSpcReduction="10000"/>
          </a:bodyPr>
          <a:lstStyle/>
          <a:p>
            <a:r>
              <a:rPr lang="hu-HU" b="1" dirty="0">
                <a:solidFill>
                  <a:srgbClr val="FF0000"/>
                </a:solidFill>
              </a:rPr>
              <a:t>ALTER TABLE</a:t>
            </a:r>
            <a:r>
              <a:rPr lang="hu-HU" dirty="0"/>
              <a:t> - Adatbázis-objektum (mező) módosítása (típus vagy mezőméret változtatása)</a:t>
            </a:r>
          </a:p>
          <a:p>
            <a:pPr>
              <a:buNone/>
            </a:pPr>
            <a:r>
              <a:rPr lang="hu-HU" dirty="0"/>
              <a:t>Pl. ALTER TABLE </a:t>
            </a:r>
            <a:r>
              <a:rPr lang="hu-HU" dirty="0" err="1"/>
              <a:t>zoldseg</a:t>
            </a:r>
            <a:r>
              <a:rPr lang="hu-HU" dirty="0"/>
              <a:t> MODIFY </a:t>
            </a:r>
            <a:r>
              <a:rPr lang="hu-HU" dirty="0" err="1"/>
              <a:t>nev</a:t>
            </a:r>
            <a:r>
              <a:rPr lang="hu-HU" dirty="0"/>
              <a:t> </a:t>
            </a:r>
            <a:r>
              <a:rPr lang="hu-HU" dirty="0" err="1"/>
              <a:t>varchar</a:t>
            </a:r>
            <a:r>
              <a:rPr lang="hu-HU" dirty="0"/>
              <a:t>(30);</a:t>
            </a:r>
          </a:p>
          <a:p>
            <a:pPr>
              <a:spcAft>
                <a:spcPts val="1200"/>
              </a:spcAft>
              <a:buNone/>
            </a:pP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Módosítja a </a:t>
            </a:r>
            <a:r>
              <a:rPr lang="hu-HU" dirty="0" err="1">
                <a:solidFill>
                  <a:schemeClr val="bg1">
                    <a:lumMod val="50000"/>
                  </a:schemeClr>
                </a:solidFill>
              </a:rPr>
              <a:t>zoldseg</a:t>
            </a: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 tábla </a:t>
            </a:r>
            <a:r>
              <a:rPr lang="hu-HU" dirty="0" err="1">
                <a:solidFill>
                  <a:schemeClr val="bg1">
                    <a:lumMod val="50000"/>
                  </a:schemeClr>
                </a:solidFill>
              </a:rPr>
              <a:t>nev</a:t>
            </a: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 oszlopának típusát/mezőméretét.</a:t>
            </a:r>
          </a:p>
          <a:p>
            <a:pPr>
              <a:buNone/>
            </a:pPr>
            <a:r>
              <a:rPr lang="hu-HU" dirty="0"/>
              <a:t>Pl. ALTER TABLE </a:t>
            </a:r>
            <a:r>
              <a:rPr lang="hu-HU" dirty="0" err="1"/>
              <a:t>zoldseg</a:t>
            </a:r>
            <a:r>
              <a:rPr lang="hu-HU" dirty="0"/>
              <a:t> MODIFY </a:t>
            </a:r>
            <a:r>
              <a:rPr lang="hu-HU" dirty="0" err="1"/>
              <a:t>nev</a:t>
            </a:r>
            <a:r>
              <a:rPr lang="hu-HU" dirty="0"/>
              <a:t> </a:t>
            </a:r>
            <a:r>
              <a:rPr lang="hu-HU" dirty="0" err="1"/>
              <a:t>varchar</a:t>
            </a:r>
            <a:r>
              <a:rPr lang="hu-HU" dirty="0"/>
              <a:t>(8);</a:t>
            </a:r>
          </a:p>
          <a:p>
            <a:pPr>
              <a:spcAft>
                <a:spcPts val="1200"/>
              </a:spcAft>
              <a:buNone/>
            </a:pP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Módosítja a </a:t>
            </a:r>
            <a:r>
              <a:rPr lang="hu-HU" dirty="0" err="1">
                <a:solidFill>
                  <a:schemeClr val="bg1">
                    <a:lumMod val="50000"/>
                  </a:schemeClr>
                </a:solidFill>
              </a:rPr>
              <a:t>zoldseg</a:t>
            </a: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 tábla </a:t>
            </a:r>
            <a:r>
              <a:rPr lang="hu-HU" dirty="0" err="1">
                <a:solidFill>
                  <a:schemeClr val="bg1">
                    <a:lumMod val="50000"/>
                  </a:schemeClr>
                </a:solidFill>
              </a:rPr>
              <a:t>nev</a:t>
            </a: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 oszlopának mezőméretét. Itt probléma lehet, ha van 8 karakternél hosszabb zöldségnév. Pl. „paradicsom” </a:t>
            </a:r>
            <a:r>
              <a:rPr lang="hu-HU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ebből csak a „</a:t>
            </a:r>
            <a:r>
              <a:rPr lang="hu-HU" dirty="0" err="1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paradics</a:t>
            </a:r>
            <a:r>
              <a:rPr lang="hu-HU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” marad meg, a többi karaktert levágja.</a:t>
            </a:r>
            <a:endParaRPr lang="hu-HU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None/>
            </a:pPr>
            <a:endParaRPr lang="hu-HU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None/>
            </a:pPr>
            <a:endParaRPr lang="hu-HU" dirty="0"/>
          </a:p>
          <a:p>
            <a:pPr>
              <a:buNone/>
            </a:pPr>
            <a:endParaRPr lang="hu-HU" dirty="0"/>
          </a:p>
          <a:p>
            <a:pPr>
              <a:buNone/>
            </a:pPr>
            <a:endParaRPr lang="hu-HU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Adatdefiníciós utasítások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>
          <a:xfrm>
            <a:off x="357158" y="1600200"/>
            <a:ext cx="8501122" cy="5043510"/>
          </a:xfrm>
        </p:spPr>
        <p:txBody>
          <a:bodyPr>
            <a:normAutofit fontScale="92500" lnSpcReduction="10000"/>
          </a:bodyPr>
          <a:lstStyle/>
          <a:p>
            <a:r>
              <a:rPr lang="hu-HU" b="1" dirty="0">
                <a:solidFill>
                  <a:srgbClr val="FF0000"/>
                </a:solidFill>
              </a:rPr>
              <a:t>ALTER TABLE</a:t>
            </a:r>
            <a:r>
              <a:rPr lang="hu-HU" dirty="0"/>
              <a:t> - Adatbázis-objektum (mező) módosítása (típus vagy mezőméret változtatása)</a:t>
            </a:r>
          </a:p>
          <a:p>
            <a:pPr>
              <a:buNone/>
            </a:pPr>
            <a:r>
              <a:rPr lang="hu-HU" dirty="0"/>
              <a:t>Pl. ALTER TABLE </a:t>
            </a:r>
            <a:r>
              <a:rPr lang="hu-HU" dirty="0" err="1"/>
              <a:t>zoldseg</a:t>
            </a:r>
            <a:r>
              <a:rPr lang="hu-HU" dirty="0"/>
              <a:t> MODIFY </a:t>
            </a:r>
            <a:r>
              <a:rPr lang="hu-HU" dirty="0" err="1"/>
              <a:t>ar</a:t>
            </a:r>
            <a:r>
              <a:rPr lang="hu-HU" dirty="0"/>
              <a:t> int;</a:t>
            </a:r>
          </a:p>
          <a:p>
            <a:pPr>
              <a:spcAft>
                <a:spcPts val="1200"/>
              </a:spcAft>
              <a:buNone/>
            </a:pP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2B-os egészről (</a:t>
            </a:r>
            <a:r>
              <a:rPr lang="hu-HU" dirty="0" err="1">
                <a:solidFill>
                  <a:schemeClr val="bg1">
                    <a:lumMod val="50000"/>
                  </a:schemeClr>
                </a:solidFill>
              </a:rPr>
              <a:t>smallint</a:t>
            </a: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) 4B-os egészre (int) változik </a:t>
            </a:r>
            <a:br>
              <a:rPr lang="hu-HU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az adattípus. Ebből nem származik probléma, mert kisebb méretről nagyobbra módosítunk.</a:t>
            </a:r>
          </a:p>
          <a:p>
            <a:pPr>
              <a:buNone/>
            </a:pPr>
            <a:r>
              <a:rPr lang="hu-HU" dirty="0"/>
              <a:t>Pl. ALTER TABLE </a:t>
            </a:r>
            <a:r>
              <a:rPr lang="hu-HU" dirty="0" err="1"/>
              <a:t>zoldseg</a:t>
            </a:r>
            <a:r>
              <a:rPr lang="hu-HU" dirty="0"/>
              <a:t> MODIFY </a:t>
            </a:r>
            <a:r>
              <a:rPr lang="hu-HU" dirty="0" err="1"/>
              <a:t>ar</a:t>
            </a:r>
            <a:r>
              <a:rPr lang="hu-HU" dirty="0"/>
              <a:t> </a:t>
            </a:r>
            <a:r>
              <a:rPr lang="hu-HU" dirty="0" err="1"/>
              <a:t>tinyint</a:t>
            </a:r>
            <a:r>
              <a:rPr lang="hu-HU" dirty="0"/>
              <a:t>;</a:t>
            </a:r>
          </a:p>
          <a:p>
            <a:pPr>
              <a:spcAft>
                <a:spcPts val="1200"/>
              </a:spcAft>
              <a:buNone/>
            </a:pP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Az </a:t>
            </a:r>
            <a:r>
              <a:rPr lang="hu-HU" dirty="0" err="1">
                <a:solidFill>
                  <a:schemeClr val="bg1">
                    <a:lumMod val="50000"/>
                  </a:schemeClr>
                </a:solidFill>
              </a:rPr>
              <a:t>ar</a:t>
            </a: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 mező típusát 1B-os egészre (</a:t>
            </a:r>
            <a:r>
              <a:rPr lang="hu-HU" dirty="0" err="1">
                <a:solidFill>
                  <a:schemeClr val="bg1">
                    <a:lumMod val="50000"/>
                  </a:schemeClr>
                </a:solidFill>
              </a:rPr>
              <a:t>tinyint</a:t>
            </a: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) változtatjuk.</a:t>
            </a:r>
            <a:br>
              <a:rPr lang="hu-HU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Ez adatvesztéssel járhat! Ilyen esetben az adattípus ábrázolható legnagyobb értékét veszi fel a mező, a régi érték törlődik. Itt pl. a 127 lesz az érték.</a:t>
            </a:r>
          </a:p>
          <a:p>
            <a:pPr>
              <a:buNone/>
            </a:pPr>
            <a:endParaRPr lang="hu-HU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None/>
            </a:pPr>
            <a:endParaRPr lang="hu-HU" dirty="0"/>
          </a:p>
          <a:p>
            <a:pPr>
              <a:buNone/>
            </a:pPr>
            <a:endParaRPr lang="hu-HU" dirty="0"/>
          </a:p>
          <a:p>
            <a:pPr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7385748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Adatdefiníciós utasítások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>
          <a:xfrm>
            <a:off x="357158" y="1600200"/>
            <a:ext cx="8501122" cy="5043510"/>
          </a:xfrm>
        </p:spPr>
        <p:txBody>
          <a:bodyPr>
            <a:normAutofit/>
          </a:bodyPr>
          <a:lstStyle/>
          <a:p>
            <a:r>
              <a:rPr lang="hu-HU" b="1" dirty="0">
                <a:solidFill>
                  <a:srgbClr val="FF0000"/>
                </a:solidFill>
              </a:rPr>
              <a:t>ALTER TABLE</a:t>
            </a:r>
            <a:r>
              <a:rPr lang="hu-HU" dirty="0"/>
              <a:t> - Mezőnév módosítása</a:t>
            </a:r>
          </a:p>
          <a:p>
            <a:pPr>
              <a:buNone/>
            </a:pPr>
            <a:r>
              <a:rPr lang="hu-HU" dirty="0"/>
              <a:t>Pl. ALTER TABLE </a:t>
            </a:r>
            <a:r>
              <a:rPr lang="hu-HU" dirty="0" err="1"/>
              <a:t>zoldseg</a:t>
            </a:r>
            <a:r>
              <a:rPr lang="hu-HU" dirty="0"/>
              <a:t> CHANGE </a:t>
            </a:r>
            <a:r>
              <a:rPr lang="hu-HU" dirty="0" err="1"/>
              <a:t>ar</a:t>
            </a:r>
            <a:r>
              <a:rPr lang="hu-HU" dirty="0"/>
              <a:t> </a:t>
            </a:r>
            <a:r>
              <a:rPr lang="hu-HU" dirty="0" err="1"/>
              <a:t>bruttoar</a:t>
            </a:r>
            <a:r>
              <a:rPr lang="hu-HU" dirty="0"/>
              <a:t> </a:t>
            </a:r>
            <a:r>
              <a:rPr lang="hu-HU" dirty="0" err="1"/>
              <a:t>smallint</a:t>
            </a:r>
            <a:r>
              <a:rPr lang="hu-HU" dirty="0"/>
              <a:t>;</a:t>
            </a:r>
          </a:p>
          <a:p>
            <a:pPr>
              <a:spcAft>
                <a:spcPts val="1200"/>
              </a:spcAft>
              <a:buNone/>
            </a:pP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Az </a:t>
            </a:r>
            <a:r>
              <a:rPr lang="hu-HU" dirty="0" err="1">
                <a:solidFill>
                  <a:schemeClr val="bg1">
                    <a:lumMod val="50000"/>
                  </a:schemeClr>
                </a:solidFill>
              </a:rPr>
              <a:t>ar</a:t>
            </a: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 mezőt átnevezzük </a:t>
            </a:r>
            <a:r>
              <a:rPr lang="hu-HU" dirty="0" err="1">
                <a:solidFill>
                  <a:schemeClr val="bg1">
                    <a:lumMod val="50000"/>
                  </a:schemeClr>
                </a:solidFill>
              </a:rPr>
              <a:t>bruttoar</a:t>
            </a: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 névre, a mező típusa 2B-os egész.</a:t>
            </a:r>
          </a:p>
          <a:p>
            <a:pPr>
              <a:buNone/>
            </a:pPr>
            <a:endParaRPr lang="hu-HU" dirty="0"/>
          </a:p>
          <a:p>
            <a:pPr>
              <a:buNone/>
            </a:pPr>
            <a:endParaRPr lang="hu-HU" dirty="0"/>
          </a:p>
          <a:p>
            <a:pPr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3745650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Adatdefiníciós utasítások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>
          <a:xfrm>
            <a:off x="357158" y="1600200"/>
            <a:ext cx="8501122" cy="5043510"/>
          </a:xfrm>
        </p:spPr>
        <p:txBody>
          <a:bodyPr>
            <a:normAutofit/>
          </a:bodyPr>
          <a:lstStyle/>
          <a:p>
            <a:r>
              <a:rPr lang="hu-HU" b="1" dirty="0">
                <a:solidFill>
                  <a:srgbClr val="FF0000"/>
                </a:solidFill>
              </a:rPr>
              <a:t>ALTER TABLE</a:t>
            </a:r>
            <a:r>
              <a:rPr lang="hu-HU" dirty="0"/>
              <a:t> - Adatbázis-objektum (mező) hozzáadása, törlése</a:t>
            </a:r>
          </a:p>
          <a:p>
            <a:pPr>
              <a:buNone/>
            </a:pPr>
            <a:r>
              <a:rPr lang="hu-HU" dirty="0"/>
              <a:t>Pl. ALTER TABLE </a:t>
            </a:r>
            <a:r>
              <a:rPr lang="hu-HU" dirty="0" err="1"/>
              <a:t>zoldseg</a:t>
            </a:r>
            <a:r>
              <a:rPr lang="hu-HU" dirty="0"/>
              <a:t> ADD </a:t>
            </a:r>
            <a:r>
              <a:rPr lang="hu-HU" dirty="0" err="1"/>
              <a:t>megj</a:t>
            </a:r>
            <a:r>
              <a:rPr lang="hu-HU" dirty="0"/>
              <a:t> text;</a:t>
            </a:r>
          </a:p>
          <a:p>
            <a:pPr>
              <a:spcAft>
                <a:spcPts val="1200"/>
              </a:spcAft>
              <a:buNone/>
            </a:pP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Hozzáadja a </a:t>
            </a:r>
            <a:r>
              <a:rPr lang="hu-HU" dirty="0" err="1">
                <a:solidFill>
                  <a:schemeClr val="bg1">
                    <a:lumMod val="50000"/>
                  </a:schemeClr>
                </a:solidFill>
              </a:rPr>
              <a:t>zoldseg</a:t>
            </a: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 táblához a </a:t>
            </a:r>
            <a:r>
              <a:rPr lang="hu-HU" dirty="0" err="1">
                <a:solidFill>
                  <a:schemeClr val="bg1">
                    <a:lumMod val="50000"/>
                  </a:schemeClr>
                </a:solidFill>
              </a:rPr>
              <a:t>megj</a:t>
            </a: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 mezőt.</a:t>
            </a:r>
          </a:p>
          <a:p>
            <a:pPr>
              <a:buNone/>
            </a:pPr>
            <a:r>
              <a:rPr lang="hu-HU" dirty="0"/>
              <a:t>Pl. ALTER TABLE </a:t>
            </a:r>
            <a:r>
              <a:rPr lang="hu-HU" dirty="0" err="1"/>
              <a:t>zoldseg</a:t>
            </a:r>
            <a:r>
              <a:rPr lang="hu-HU" dirty="0"/>
              <a:t> DROP </a:t>
            </a:r>
            <a:r>
              <a:rPr lang="hu-HU" dirty="0" err="1"/>
              <a:t>megj</a:t>
            </a:r>
            <a:r>
              <a:rPr lang="hu-HU" dirty="0"/>
              <a:t>;</a:t>
            </a:r>
          </a:p>
          <a:p>
            <a:pPr>
              <a:spcAft>
                <a:spcPts val="600"/>
              </a:spcAft>
              <a:buNone/>
            </a:pP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Törli a </a:t>
            </a:r>
            <a:r>
              <a:rPr lang="hu-HU" dirty="0" err="1">
                <a:solidFill>
                  <a:schemeClr val="bg1">
                    <a:lumMod val="50000"/>
                  </a:schemeClr>
                </a:solidFill>
              </a:rPr>
              <a:t>zoldseg</a:t>
            </a: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 táblából a </a:t>
            </a:r>
            <a:r>
              <a:rPr lang="hu-HU" dirty="0" err="1">
                <a:solidFill>
                  <a:schemeClr val="bg1">
                    <a:lumMod val="50000"/>
                  </a:schemeClr>
                </a:solidFill>
              </a:rPr>
              <a:t>megj</a:t>
            </a: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 mezőt tartalmával együtt.</a:t>
            </a:r>
          </a:p>
          <a:p>
            <a:pPr>
              <a:buNone/>
            </a:pPr>
            <a:endParaRPr lang="hu-HU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None/>
            </a:pPr>
            <a:endParaRPr lang="hu-HU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None/>
            </a:pPr>
            <a:endParaRPr lang="hu-HU" dirty="0"/>
          </a:p>
          <a:p>
            <a:pPr>
              <a:buNone/>
            </a:pPr>
            <a:endParaRPr lang="hu-HU" dirty="0"/>
          </a:p>
          <a:p>
            <a:pPr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107316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Adatdefiníciós utasítások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>
          <a:xfrm>
            <a:off x="357158" y="1600200"/>
            <a:ext cx="8643998" cy="5257800"/>
          </a:xfrm>
        </p:spPr>
        <p:txBody>
          <a:bodyPr>
            <a:normAutofit/>
          </a:bodyPr>
          <a:lstStyle/>
          <a:p>
            <a:r>
              <a:rPr lang="hu-HU" b="1" dirty="0">
                <a:solidFill>
                  <a:srgbClr val="FF0000"/>
                </a:solidFill>
              </a:rPr>
              <a:t>ALTER TABLE</a:t>
            </a:r>
            <a:r>
              <a:rPr lang="hu-HU" dirty="0"/>
              <a:t> - Adatbázis-objektum (elsődleges kulcs) hozzáadása, törlése</a:t>
            </a:r>
          </a:p>
          <a:p>
            <a:pPr>
              <a:buNone/>
            </a:pPr>
            <a:r>
              <a:rPr lang="hu-HU" dirty="0"/>
              <a:t>Pl. ALTER TABLE </a:t>
            </a:r>
            <a:r>
              <a:rPr lang="hu-HU" dirty="0" err="1"/>
              <a:t>zoldseg</a:t>
            </a:r>
            <a:r>
              <a:rPr lang="hu-HU" dirty="0"/>
              <a:t> DROP PRIMARY KEY;</a:t>
            </a:r>
          </a:p>
          <a:p>
            <a:pPr>
              <a:buNone/>
            </a:pP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Törli a </a:t>
            </a:r>
            <a:r>
              <a:rPr lang="hu-HU" dirty="0" err="1">
                <a:solidFill>
                  <a:schemeClr val="bg1">
                    <a:lumMod val="50000"/>
                  </a:schemeClr>
                </a:solidFill>
              </a:rPr>
              <a:t>zoldseg</a:t>
            </a: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 táblából az elsődleges kulcsmegjelölést.</a:t>
            </a:r>
          </a:p>
          <a:p>
            <a:pPr>
              <a:buNone/>
            </a:pPr>
            <a:r>
              <a:rPr lang="hu-HU" dirty="0"/>
              <a:t>Pl. ALTER TABLE </a:t>
            </a:r>
            <a:r>
              <a:rPr lang="hu-HU" dirty="0" err="1"/>
              <a:t>zoldseg</a:t>
            </a:r>
            <a:r>
              <a:rPr lang="hu-HU" dirty="0"/>
              <a:t> ADD PRIMARY KEY(</a:t>
            </a:r>
            <a:r>
              <a:rPr lang="hu-HU" dirty="0" err="1"/>
              <a:t>sorszam</a:t>
            </a:r>
            <a:r>
              <a:rPr lang="hu-HU" dirty="0"/>
              <a:t>);</a:t>
            </a:r>
          </a:p>
          <a:p>
            <a:pPr>
              <a:buNone/>
            </a:pP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Megjelöli a </a:t>
            </a:r>
            <a:r>
              <a:rPr lang="hu-HU" dirty="0" err="1">
                <a:solidFill>
                  <a:schemeClr val="bg1">
                    <a:lumMod val="50000"/>
                  </a:schemeClr>
                </a:solidFill>
              </a:rPr>
              <a:t>zoldseg</a:t>
            </a: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 tábla sorszam mezőjét elsődleges kulcsként.</a:t>
            </a:r>
          </a:p>
          <a:p>
            <a:pPr>
              <a:buNone/>
            </a:pPr>
            <a:endParaRPr lang="hu-HU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None/>
            </a:pPr>
            <a:endParaRPr lang="hu-HU" dirty="0"/>
          </a:p>
          <a:p>
            <a:pPr>
              <a:buNone/>
            </a:pPr>
            <a:endParaRPr lang="hu-HU" dirty="0"/>
          </a:p>
          <a:p>
            <a:pPr>
              <a:buNone/>
            </a:pPr>
            <a:endParaRPr lang="hu-HU" dirty="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Adatdefiníciós utasítások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>
          <a:xfrm>
            <a:off x="357158" y="1600200"/>
            <a:ext cx="8643998" cy="5257800"/>
          </a:xfrm>
        </p:spPr>
        <p:txBody>
          <a:bodyPr>
            <a:normAutofit/>
          </a:bodyPr>
          <a:lstStyle/>
          <a:p>
            <a:r>
              <a:rPr lang="hu-HU" b="1" dirty="0">
                <a:solidFill>
                  <a:srgbClr val="FF0000"/>
                </a:solidFill>
              </a:rPr>
              <a:t>ALTER TABLE</a:t>
            </a:r>
            <a:r>
              <a:rPr lang="hu-HU" dirty="0"/>
              <a:t> - Adatbázis-objektum (elsődleges kulcs) hozzáadása, törlése</a:t>
            </a:r>
          </a:p>
          <a:p>
            <a:pPr>
              <a:buNone/>
            </a:pPr>
            <a:r>
              <a:rPr lang="hu-HU" dirty="0"/>
              <a:t>Ha az elsődleges kulcs AUTO_INCREMENT (automatikus sorszám volt, akkor a </a:t>
            </a:r>
            <a:r>
              <a:rPr lang="hu-HU" dirty="0" err="1"/>
              <a:t>Primary</a:t>
            </a:r>
            <a:r>
              <a:rPr lang="hu-HU" dirty="0"/>
              <a:t> Key tulajdonság nem törölhető róla, csak a mező törlésével és újra létrehozásával lehet megoldani a problémát.</a:t>
            </a:r>
          </a:p>
          <a:p>
            <a:pPr>
              <a:buNone/>
            </a:pPr>
            <a:r>
              <a:rPr lang="hu-HU" dirty="0"/>
              <a:t>Pl. ALTER TABLE </a:t>
            </a:r>
            <a:r>
              <a:rPr lang="hu-HU" dirty="0" err="1"/>
              <a:t>zoldseg</a:t>
            </a:r>
            <a:r>
              <a:rPr lang="hu-HU" dirty="0"/>
              <a:t> DROP sorszam;</a:t>
            </a:r>
          </a:p>
          <a:p>
            <a:pPr>
              <a:buNone/>
            </a:pPr>
            <a:r>
              <a:rPr lang="hu-HU" dirty="0"/>
              <a:t>Pl. ALTER TABLE </a:t>
            </a:r>
            <a:r>
              <a:rPr lang="hu-HU" dirty="0" err="1"/>
              <a:t>zoldseg</a:t>
            </a:r>
            <a:r>
              <a:rPr lang="hu-HU" dirty="0"/>
              <a:t> ADD sorszam int AUTO_INCREMENT PRIMARY KEY FIRST; </a:t>
            </a:r>
            <a:br>
              <a:rPr lang="hu-HU" dirty="0"/>
            </a:b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(Első mezőként hoz létre egy automatikusan növekvő sorszámozású mezőt elsődleges kulcsként.)</a:t>
            </a:r>
          </a:p>
          <a:p>
            <a:pPr>
              <a:buNone/>
            </a:pPr>
            <a:endParaRPr lang="hu-HU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None/>
            </a:pPr>
            <a:endParaRPr lang="hu-HU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None/>
            </a:pPr>
            <a:endParaRPr lang="hu-HU" dirty="0"/>
          </a:p>
          <a:p>
            <a:pPr>
              <a:buNone/>
            </a:pPr>
            <a:endParaRPr lang="hu-HU" dirty="0"/>
          </a:p>
          <a:p>
            <a:pPr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6040629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Adatdefiníciós utasítások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b="1" dirty="0">
                <a:solidFill>
                  <a:srgbClr val="FF0000"/>
                </a:solidFill>
              </a:rPr>
              <a:t>DROP</a:t>
            </a:r>
            <a:r>
              <a:rPr lang="hu-HU" dirty="0"/>
              <a:t> - egy adatbázisbeli objektum megszüntetése</a:t>
            </a:r>
          </a:p>
          <a:p>
            <a:pPr>
              <a:buNone/>
            </a:pPr>
            <a:endParaRPr lang="hu-HU" dirty="0"/>
          </a:p>
          <a:p>
            <a:pPr>
              <a:buNone/>
            </a:pPr>
            <a:r>
              <a:rPr lang="hu-HU" dirty="0"/>
              <a:t>Pl. TRUNCATE </a:t>
            </a:r>
            <a:r>
              <a:rPr lang="hu-HU" dirty="0" err="1"/>
              <a:t>gyumolcs</a:t>
            </a:r>
            <a:r>
              <a:rPr lang="hu-HU" dirty="0"/>
              <a:t>;</a:t>
            </a:r>
          </a:p>
          <a:p>
            <a:pPr>
              <a:spcAft>
                <a:spcPts val="1200"/>
              </a:spcAft>
              <a:buNone/>
            </a:pP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Törli a </a:t>
            </a:r>
            <a:r>
              <a:rPr lang="hu-HU" dirty="0" err="1">
                <a:solidFill>
                  <a:schemeClr val="bg1">
                    <a:lumMod val="50000"/>
                  </a:schemeClr>
                </a:solidFill>
              </a:rPr>
              <a:t>gyumolcs</a:t>
            </a: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 tábla tartalmát (rekordjait). Kiüríti a táblát.</a:t>
            </a:r>
          </a:p>
          <a:p>
            <a:pPr>
              <a:buNone/>
            </a:pPr>
            <a:r>
              <a:rPr lang="hu-HU" dirty="0"/>
              <a:t>Pl. DROP TABLE </a:t>
            </a:r>
            <a:r>
              <a:rPr lang="hu-HU" dirty="0" err="1"/>
              <a:t>gyumolcs</a:t>
            </a:r>
            <a:r>
              <a:rPr lang="hu-HU" dirty="0"/>
              <a:t>;</a:t>
            </a:r>
          </a:p>
          <a:p>
            <a:pPr>
              <a:spcAft>
                <a:spcPts val="1200"/>
              </a:spcAft>
              <a:buNone/>
            </a:pP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Törli a </a:t>
            </a:r>
            <a:r>
              <a:rPr lang="hu-HU" dirty="0" err="1">
                <a:solidFill>
                  <a:schemeClr val="bg1">
                    <a:lumMod val="50000"/>
                  </a:schemeClr>
                </a:solidFill>
              </a:rPr>
              <a:t>gyumolcs</a:t>
            </a: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 táblát tartalmával együtt.</a:t>
            </a:r>
          </a:p>
          <a:p>
            <a:pPr>
              <a:buNone/>
            </a:pPr>
            <a:r>
              <a:rPr lang="hu-HU" dirty="0"/>
              <a:t>Pl. DROP DATABASE </a:t>
            </a:r>
            <a:r>
              <a:rPr lang="hu-HU" dirty="0" err="1"/>
              <a:t>autok</a:t>
            </a:r>
            <a:r>
              <a:rPr lang="hu-HU" dirty="0"/>
              <a:t>;</a:t>
            </a:r>
          </a:p>
          <a:p>
            <a:pPr>
              <a:buNone/>
            </a:pP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Törli az </a:t>
            </a:r>
            <a:r>
              <a:rPr lang="hu-HU" dirty="0" err="1">
                <a:solidFill>
                  <a:schemeClr val="bg1">
                    <a:lumMod val="50000"/>
                  </a:schemeClr>
                </a:solidFill>
              </a:rPr>
              <a:t>autok</a:t>
            </a: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 adatbázist tartalmával együtt.</a:t>
            </a:r>
          </a:p>
          <a:p>
            <a:endParaRPr lang="hu-HU" dirty="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Adatkezelési utasítások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900634"/>
          </a:xfrm>
        </p:spPr>
        <p:txBody>
          <a:bodyPr/>
          <a:lstStyle/>
          <a:p>
            <a:r>
              <a:rPr lang="hu-HU" b="1" dirty="0">
                <a:solidFill>
                  <a:srgbClr val="FF0000"/>
                </a:solidFill>
              </a:rPr>
              <a:t>INSERT INTO </a:t>
            </a:r>
            <a:r>
              <a:rPr lang="hu-HU" dirty="0"/>
              <a:t>– adatok ad hozzá egy táblához</a:t>
            </a:r>
          </a:p>
          <a:p>
            <a:pPr>
              <a:buNone/>
            </a:pPr>
            <a:r>
              <a:rPr lang="hu-HU" dirty="0"/>
              <a:t>Pl. INSERT INTO </a:t>
            </a:r>
            <a:r>
              <a:rPr lang="hu-HU" dirty="0" err="1"/>
              <a:t>zoldseg</a:t>
            </a:r>
            <a:endParaRPr lang="hu-HU" dirty="0"/>
          </a:p>
          <a:p>
            <a:pPr marL="0" indent="0">
              <a:buNone/>
            </a:pPr>
            <a:r>
              <a:rPr lang="hu-HU" dirty="0"/>
              <a:t>(SORSZAM ,NEV,AR,BESZ_DATUM,ENGEDMENYES)</a:t>
            </a:r>
            <a:br>
              <a:rPr lang="hu-HU" dirty="0"/>
            </a:br>
            <a:r>
              <a:rPr lang="hu-HU" dirty="0"/>
              <a:t>VALUES</a:t>
            </a:r>
          </a:p>
          <a:p>
            <a:pPr>
              <a:buNone/>
            </a:pPr>
            <a:r>
              <a:rPr lang="hu-HU" dirty="0"/>
              <a:t>(1,’</a:t>
            </a:r>
            <a:r>
              <a:rPr lang="hu-HU" dirty="0" err="1"/>
              <a:t>paradicsom</a:t>
            </a:r>
            <a:r>
              <a:rPr lang="hu-HU" dirty="0"/>
              <a:t>’,240,’2013-10-02’,1),</a:t>
            </a:r>
          </a:p>
          <a:p>
            <a:pPr>
              <a:buNone/>
            </a:pPr>
            <a:r>
              <a:rPr lang="hu-HU" dirty="0"/>
              <a:t>(2,’</a:t>
            </a:r>
            <a:r>
              <a:rPr lang="hu-HU" dirty="0" err="1"/>
              <a:t>burgonya</a:t>
            </a:r>
            <a:r>
              <a:rPr lang="hu-HU" dirty="0"/>
              <a:t>’,120,’2013-10-01’,0);</a:t>
            </a:r>
          </a:p>
          <a:p>
            <a:pPr>
              <a:buNone/>
            </a:pPr>
            <a:endParaRPr lang="hu-HU" dirty="0"/>
          </a:p>
          <a:p>
            <a:pPr>
              <a:buNone/>
            </a:pPr>
            <a:r>
              <a:rPr lang="hu-HU" dirty="0"/>
              <a:t>Az ‘ helyett ” jelek is használhatók.</a:t>
            </a:r>
          </a:p>
          <a:p>
            <a:pPr>
              <a:buNone/>
            </a:pPr>
            <a:endParaRPr lang="hu-H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Adatkezelési utasítások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257800"/>
          </a:xfrm>
        </p:spPr>
        <p:txBody>
          <a:bodyPr>
            <a:normAutofit lnSpcReduction="10000"/>
          </a:bodyPr>
          <a:lstStyle/>
          <a:p>
            <a:r>
              <a:rPr lang="hu-HU" b="1" dirty="0">
                <a:solidFill>
                  <a:srgbClr val="FF0000"/>
                </a:solidFill>
              </a:rPr>
              <a:t>UPDATE</a:t>
            </a:r>
            <a:r>
              <a:rPr lang="hu-HU" dirty="0"/>
              <a:t> – módosítást hajt végre az adatokon</a:t>
            </a:r>
          </a:p>
          <a:p>
            <a:pPr>
              <a:buNone/>
            </a:pPr>
            <a:r>
              <a:rPr lang="hu-HU" dirty="0"/>
              <a:t>Pl. UPDATE </a:t>
            </a:r>
            <a:r>
              <a:rPr lang="hu-HU" dirty="0" err="1"/>
              <a:t>zoldseg</a:t>
            </a:r>
            <a:r>
              <a:rPr lang="hu-HU" dirty="0"/>
              <a:t> SET </a:t>
            </a:r>
            <a:r>
              <a:rPr lang="hu-HU" dirty="0" err="1"/>
              <a:t>nev</a:t>
            </a:r>
            <a:r>
              <a:rPr lang="hu-HU" dirty="0"/>
              <a:t> =”paprika” WHERE </a:t>
            </a:r>
            <a:r>
              <a:rPr lang="hu-HU" dirty="0" err="1"/>
              <a:t>sorszam</a:t>
            </a:r>
            <a:r>
              <a:rPr lang="hu-HU" dirty="0"/>
              <a:t>=1;</a:t>
            </a:r>
          </a:p>
          <a:p>
            <a:pPr>
              <a:buNone/>
            </a:pP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Az 1-es sorszámú zöldség neve „paprika” lesz.</a:t>
            </a:r>
            <a:endParaRPr lang="hu-HU" dirty="0"/>
          </a:p>
          <a:p>
            <a:pPr>
              <a:buNone/>
            </a:pPr>
            <a:r>
              <a:rPr lang="hu-HU" dirty="0"/>
              <a:t>Pl. UPDATE </a:t>
            </a:r>
            <a:r>
              <a:rPr lang="hu-HU" dirty="0" err="1"/>
              <a:t>zoldseg</a:t>
            </a:r>
            <a:r>
              <a:rPr lang="hu-HU" dirty="0"/>
              <a:t> SET </a:t>
            </a:r>
            <a:r>
              <a:rPr lang="hu-HU" dirty="0" err="1"/>
              <a:t>nev</a:t>
            </a:r>
            <a:r>
              <a:rPr lang="hu-HU" dirty="0"/>
              <a:t> =”krumpli” WHERE </a:t>
            </a:r>
            <a:r>
              <a:rPr lang="hu-HU" dirty="0" err="1"/>
              <a:t>nev</a:t>
            </a:r>
            <a:r>
              <a:rPr lang="hu-HU" dirty="0"/>
              <a:t>=”burgonya”;</a:t>
            </a:r>
          </a:p>
          <a:p>
            <a:pPr>
              <a:buNone/>
            </a:pP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A „burgonya” nevet „krumpli”-re módosítjuk.</a:t>
            </a:r>
            <a:endParaRPr lang="hu-HU" dirty="0"/>
          </a:p>
          <a:p>
            <a:pPr>
              <a:buNone/>
            </a:pPr>
            <a:r>
              <a:rPr lang="hu-HU" dirty="0"/>
              <a:t>Pl. UPDATE </a:t>
            </a:r>
            <a:r>
              <a:rPr lang="hu-HU" dirty="0" err="1"/>
              <a:t>zoldseg</a:t>
            </a:r>
            <a:r>
              <a:rPr lang="hu-HU" dirty="0"/>
              <a:t> SET </a:t>
            </a:r>
            <a:r>
              <a:rPr lang="hu-HU" dirty="0" err="1"/>
              <a:t>ar</a:t>
            </a:r>
            <a:r>
              <a:rPr lang="hu-HU" dirty="0"/>
              <a:t>=50, </a:t>
            </a:r>
            <a:r>
              <a:rPr lang="hu-HU" dirty="0" err="1"/>
              <a:t>engedmenyes</a:t>
            </a:r>
            <a:r>
              <a:rPr lang="hu-HU" dirty="0"/>
              <a:t>=1 WHERE </a:t>
            </a:r>
            <a:r>
              <a:rPr lang="hu-HU" dirty="0" err="1"/>
              <a:t>nev</a:t>
            </a:r>
            <a:r>
              <a:rPr lang="hu-HU" dirty="0"/>
              <a:t>=”erős paprika”;</a:t>
            </a:r>
          </a:p>
          <a:p>
            <a:pPr>
              <a:buNone/>
            </a:pP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Az „erős paprika” árát és engedményes tulajdonságát is módosítjuk egy utasítással.</a:t>
            </a:r>
            <a:endParaRPr lang="hu-HU" dirty="0"/>
          </a:p>
          <a:p>
            <a:pPr>
              <a:buNone/>
            </a:pPr>
            <a:endParaRPr lang="hu-HU" dirty="0"/>
          </a:p>
          <a:p>
            <a:pPr>
              <a:buNone/>
            </a:pPr>
            <a:endParaRPr lang="hu-HU" dirty="0"/>
          </a:p>
          <a:p>
            <a:pPr>
              <a:buNone/>
            </a:pPr>
            <a:endParaRPr lang="hu-H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Adatkezelési utasítások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hu-HU" b="1" dirty="0">
                <a:solidFill>
                  <a:srgbClr val="FF0000"/>
                </a:solidFill>
              </a:rPr>
              <a:t>DELETE</a:t>
            </a:r>
            <a:r>
              <a:rPr lang="hu-HU" dirty="0"/>
              <a:t> – adatokat töröl egy táblából</a:t>
            </a:r>
          </a:p>
          <a:p>
            <a:pPr>
              <a:buNone/>
            </a:pPr>
            <a:r>
              <a:rPr lang="hu-HU" dirty="0"/>
              <a:t>Pl. DELETE FROM </a:t>
            </a:r>
            <a:r>
              <a:rPr lang="hu-HU" dirty="0" err="1"/>
              <a:t>zoldseg</a:t>
            </a:r>
            <a:r>
              <a:rPr lang="hu-HU" dirty="0"/>
              <a:t> WHERE </a:t>
            </a:r>
            <a:r>
              <a:rPr lang="hu-HU" dirty="0" err="1"/>
              <a:t>sorszam</a:t>
            </a:r>
            <a:r>
              <a:rPr lang="hu-HU" dirty="0"/>
              <a:t>=1;</a:t>
            </a:r>
          </a:p>
          <a:p>
            <a:pPr>
              <a:buNone/>
            </a:pP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Az 1-es sorszámú rekordot törli a táblából.</a:t>
            </a:r>
            <a:endParaRPr lang="hu-HU" dirty="0"/>
          </a:p>
          <a:p>
            <a:pPr>
              <a:buNone/>
            </a:pPr>
            <a:r>
              <a:rPr lang="hu-HU" dirty="0"/>
              <a:t>Pl. DELETE FROM </a:t>
            </a:r>
            <a:r>
              <a:rPr lang="hu-HU" dirty="0" err="1"/>
              <a:t>zoldseg</a:t>
            </a:r>
            <a:r>
              <a:rPr lang="hu-HU" dirty="0"/>
              <a:t> WHERE </a:t>
            </a:r>
            <a:r>
              <a:rPr lang="hu-HU" dirty="0" err="1"/>
              <a:t>nev</a:t>
            </a:r>
            <a:r>
              <a:rPr lang="hu-HU" dirty="0"/>
              <a:t>=”krumpli”;</a:t>
            </a:r>
          </a:p>
          <a:p>
            <a:pPr>
              <a:buNone/>
            </a:pPr>
            <a:r>
              <a:rPr lang="hu-HU" dirty="0">
                <a:solidFill>
                  <a:schemeClr val="bg1">
                    <a:lumMod val="50000"/>
                  </a:schemeClr>
                </a:solidFill>
              </a:rPr>
              <a:t>A krumpli adatait (a teljes sort) törli a táblából.</a:t>
            </a:r>
            <a:endParaRPr lang="hu-HU" dirty="0"/>
          </a:p>
          <a:p>
            <a:pPr>
              <a:buNone/>
            </a:pPr>
            <a:endParaRPr lang="hu-HU" dirty="0"/>
          </a:p>
          <a:p>
            <a:pPr>
              <a:buNone/>
            </a:pPr>
            <a:endParaRPr lang="hu-HU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Összefoglalás - 1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257800"/>
          </a:xfrm>
        </p:spPr>
        <p:txBody>
          <a:bodyPr>
            <a:normAutofit lnSpcReduction="10000"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hu-HU" dirty="0"/>
              <a:t>A tábla szerkezetére vonatkozó parancsok</a:t>
            </a:r>
          </a:p>
          <a:p>
            <a:pPr>
              <a:spcAft>
                <a:spcPts val="600"/>
              </a:spcAft>
            </a:pPr>
            <a:r>
              <a:rPr lang="hu-HU" b="1" dirty="0">
                <a:solidFill>
                  <a:srgbClr val="FF0000"/>
                </a:solidFill>
              </a:rPr>
              <a:t>CREATE DATABASE </a:t>
            </a:r>
            <a:r>
              <a:rPr lang="hu-HU" dirty="0"/>
              <a:t>(adatbázis létrehozása)</a:t>
            </a:r>
          </a:p>
          <a:p>
            <a:pPr>
              <a:spcAft>
                <a:spcPts val="600"/>
              </a:spcAft>
            </a:pPr>
            <a:r>
              <a:rPr lang="hu-HU" b="1" dirty="0">
                <a:solidFill>
                  <a:srgbClr val="FF0000"/>
                </a:solidFill>
              </a:rPr>
              <a:t>CREATE TABLE </a:t>
            </a:r>
            <a:r>
              <a:rPr lang="hu-HU" dirty="0"/>
              <a:t>(tábla létrehozása)</a:t>
            </a:r>
          </a:p>
          <a:p>
            <a:pPr>
              <a:spcAft>
                <a:spcPts val="600"/>
              </a:spcAft>
            </a:pPr>
            <a:r>
              <a:rPr lang="hu-HU" b="1" dirty="0">
                <a:solidFill>
                  <a:srgbClr val="FF0000"/>
                </a:solidFill>
              </a:rPr>
              <a:t>RENAME TABLE </a:t>
            </a:r>
            <a:r>
              <a:rPr lang="hu-HU" dirty="0"/>
              <a:t>(tábla átnevezése)</a:t>
            </a:r>
          </a:p>
          <a:p>
            <a:pPr>
              <a:spcAft>
                <a:spcPts val="600"/>
              </a:spcAft>
            </a:pPr>
            <a:r>
              <a:rPr lang="hu-HU" b="1" dirty="0">
                <a:solidFill>
                  <a:srgbClr val="FF0000"/>
                </a:solidFill>
              </a:rPr>
              <a:t>ALTER TABLE </a:t>
            </a:r>
            <a:r>
              <a:rPr lang="hu-HU" dirty="0"/>
              <a:t>(tábla mezőjének (oszlopának) hozzáadása, módosítása, törlése)</a:t>
            </a:r>
          </a:p>
          <a:p>
            <a:pPr>
              <a:spcAft>
                <a:spcPts val="600"/>
              </a:spcAft>
            </a:pPr>
            <a:r>
              <a:rPr lang="hu-HU" b="1" dirty="0">
                <a:solidFill>
                  <a:srgbClr val="FF0000"/>
                </a:solidFill>
              </a:rPr>
              <a:t>DROP TABLE </a:t>
            </a:r>
            <a:r>
              <a:rPr lang="hu-HU" dirty="0"/>
              <a:t>(tábla törlése)</a:t>
            </a:r>
          </a:p>
          <a:p>
            <a:pPr>
              <a:spcAft>
                <a:spcPts val="600"/>
              </a:spcAft>
            </a:pPr>
            <a:r>
              <a:rPr lang="hu-HU" b="1" dirty="0">
                <a:solidFill>
                  <a:srgbClr val="FF0000"/>
                </a:solidFill>
              </a:rPr>
              <a:t>DROP DATABASE </a:t>
            </a:r>
            <a:r>
              <a:rPr lang="hu-HU" dirty="0"/>
              <a:t>(adatbázis törlése</a:t>
            </a:r>
          </a:p>
          <a:p>
            <a:pPr>
              <a:spcAft>
                <a:spcPts val="600"/>
              </a:spcAft>
            </a:pPr>
            <a:r>
              <a:rPr lang="hu-HU" b="1" dirty="0">
                <a:solidFill>
                  <a:srgbClr val="FF0000"/>
                </a:solidFill>
              </a:rPr>
              <a:t>TRUNCATE</a:t>
            </a:r>
            <a:r>
              <a:rPr lang="hu-HU" dirty="0"/>
              <a:t> (tábla kiürítése)</a:t>
            </a:r>
          </a:p>
          <a:p>
            <a:pPr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3410638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Összefoglalás - 2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257800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hu-HU" dirty="0"/>
              <a:t>A tábla adataira (tartalmára) vonatkozó parancsok</a:t>
            </a:r>
          </a:p>
          <a:p>
            <a:pPr>
              <a:spcAft>
                <a:spcPts val="600"/>
              </a:spcAft>
            </a:pPr>
            <a:r>
              <a:rPr lang="hu-HU" b="1" dirty="0">
                <a:solidFill>
                  <a:srgbClr val="FF0000"/>
                </a:solidFill>
              </a:rPr>
              <a:t>INSERT INTO </a:t>
            </a:r>
            <a:r>
              <a:rPr lang="hu-HU" dirty="0"/>
              <a:t>(tábla feltöltése adatokkal / adatrekordok hozzáfűzése a táblához)</a:t>
            </a:r>
            <a:endParaRPr lang="hu-HU" b="1" dirty="0">
              <a:solidFill>
                <a:srgbClr val="FF0000"/>
              </a:solidFill>
            </a:endParaRPr>
          </a:p>
          <a:p>
            <a:pPr>
              <a:spcAft>
                <a:spcPts val="600"/>
              </a:spcAft>
            </a:pPr>
            <a:r>
              <a:rPr lang="hu-HU" b="1" dirty="0">
                <a:solidFill>
                  <a:srgbClr val="FF0000"/>
                </a:solidFill>
              </a:rPr>
              <a:t>UPDATE </a:t>
            </a:r>
            <a:r>
              <a:rPr lang="hu-HU" dirty="0"/>
              <a:t>(tábla egy/több adatának módosítása)</a:t>
            </a:r>
            <a:endParaRPr lang="hu-HU" b="1" dirty="0">
              <a:solidFill>
                <a:srgbClr val="FF0000"/>
              </a:solidFill>
            </a:endParaRPr>
          </a:p>
          <a:p>
            <a:pPr>
              <a:spcAft>
                <a:spcPts val="600"/>
              </a:spcAft>
            </a:pPr>
            <a:r>
              <a:rPr lang="hu-HU" b="1" dirty="0">
                <a:solidFill>
                  <a:srgbClr val="FF0000"/>
                </a:solidFill>
              </a:rPr>
              <a:t>DELETE FROM </a:t>
            </a:r>
            <a:r>
              <a:rPr lang="hu-HU" dirty="0"/>
              <a:t>(tábla rekordjainak (sorainak) törlése)</a:t>
            </a:r>
            <a:endParaRPr lang="hu-HU" b="1" dirty="0">
              <a:solidFill>
                <a:srgbClr val="FF0000"/>
              </a:solidFill>
            </a:endParaRPr>
          </a:p>
          <a:p>
            <a:pPr>
              <a:buNone/>
            </a:pPr>
            <a:endParaRPr lang="hu-HU" dirty="0"/>
          </a:p>
          <a:p>
            <a:pPr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8580981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án">
  <a:themeElements>
    <a:clrScheme name="Mediá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á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á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382</TotalTime>
  <Words>1080</Words>
  <Application>Microsoft Office PowerPoint</Application>
  <PresentationFormat>Diavetítés a képernyőre (4:3 oldalarány)</PresentationFormat>
  <Paragraphs>130</Paragraphs>
  <Slides>18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18</vt:i4>
      </vt:variant>
    </vt:vector>
  </HeadingPairs>
  <TitlesOfParts>
    <vt:vector size="23" baseType="lpstr">
      <vt:lpstr>Calibri</vt:lpstr>
      <vt:lpstr>Tw Cen MT</vt:lpstr>
      <vt:lpstr>Wingdings</vt:lpstr>
      <vt:lpstr>Wingdings 2</vt:lpstr>
      <vt:lpstr>Medián</vt:lpstr>
      <vt:lpstr>SQL NYELV</vt:lpstr>
      <vt:lpstr>SQL</vt:lpstr>
      <vt:lpstr>Feladat</vt:lpstr>
      <vt:lpstr>Adatdefiníciós utasítások</vt:lpstr>
      <vt:lpstr>Adatdefiníciós utasítások</vt:lpstr>
      <vt:lpstr>Adatdefiníciós utasítások</vt:lpstr>
      <vt:lpstr>Adatdefiníciós utasítások</vt:lpstr>
      <vt:lpstr>Adatdefiníciós utasítások</vt:lpstr>
      <vt:lpstr>Adatdefiníciós utasítások</vt:lpstr>
      <vt:lpstr>Adatdefiníciós utasítások</vt:lpstr>
      <vt:lpstr>Adatdefiníciós utasítások</vt:lpstr>
      <vt:lpstr>Adatdefiníciós utasítások</vt:lpstr>
      <vt:lpstr>Adatdefiníciós utasítások</vt:lpstr>
      <vt:lpstr>Adatkezelési utasítások</vt:lpstr>
      <vt:lpstr>Adatkezelési utasítások</vt:lpstr>
      <vt:lpstr>Adatkezelési utasítások</vt:lpstr>
      <vt:lpstr>Összefoglalás - 1</vt:lpstr>
      <vt:lpstr>Összefoglalás - 2</vt:lpstr>
    </vt:vector>
  </TitlesOfParts>
  <Company>Vasvári Pál Közgazdasági Szki.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phpMyAdmin</dc:title>
  <dc:creator>tunde</dc:creator>
  <cp:lastModifiedBy>Kádár Tünde</cp:lastModifiedBy>
  <cp:revision>72</cp:revision>
  <dcterms:created xsi:type="dcterms:W3CDTF">2013-09-19T13:53:31Z</dcterms:created>
  <dcterms:modified xsi:type="dcterms:W3CDTF">2026-09-23T09:45:51Z</dcterms:modified>
</cp:coreProperties>
</file>